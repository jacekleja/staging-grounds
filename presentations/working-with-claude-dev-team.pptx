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open -- no preamble, no "welcome to the hackathon" pleasantries. Walk in and start with "You are here to build something real." Hold that line for a beat before continuing. The acknowledgment of the experience spectrum ("some of you for months, some opened it this week") does real work here -- it signals to newcomers they belong and to power users this isn't remedial. End on "then we build" with intention. That is the energy for the entire talk. Do not undercut it with a housekeeping slide or a pause for applause.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the roadmap. The point is: "I'm showing you something I run, not theory." Mention that you're available as a resource after the talk and during the hackathon -- that's the credibility claim that matters most right now, not the list of projects. Keep this under 2 minutes. The roadmap is just a map so people don't feel lost; it's not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sales pitch. It is a genuine recommendation. Plant the URL now -- they will come back to it. Say it quickly and with conviction: "Before we go any further -- bookmark this URL. academy.anthropic.com. Anthropic built it, it is free, it covers exactly the things we are talking about today in more depth than I have time for. If you spend 1-2 hours there this week, you will save yourself days of frustration." Then move on. Do not linger.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load-bearing concept in the talk. Everything that follows -- verification discipline, how you structure prompts, when to start a new session -- flows from this. The "attention dilution" framing is the key reframe: it is not a vague metaphor, it is the actual failure mode. Spend one minute on the mechanism, one minute on the practical rules. Plant this now; you will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CLAUDE.md mention here is intentional -- it foreshadows one of the concrete hackathon tasks later. Make it concrete: "By the end of today, you will have a CLAUDE.md that tells Claude what your project is, what stack you use, and how you want it to behave. That file pays dividends for the entire hackathon and beyond." The broader principle -- you are responsible for Claude's context -- is the single most common source of failure among new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that lands: ask Claude right now what context it needs for a task. 30 seconds, more memorable than the slide. Keep this tight -- the point is one habit, not a list of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when you give a hard task to the wrong model, you get plausible-sounding garbage. The rule of thumb is the thing to remember -- not the table. Read it aloud, let it land,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mindset shift in the entire talk. Everything that follows -- the failure patterns, the hackathon tasks -- is downstream of this one idea. Pause here before moving on. Let it sit. If you do only one thing differently after today, it should be this: before you submit a prompt, spend 10 seconds asking yourself what you would need to do this task well, and whether you gave Claude that. That habit alone will double your output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setup for the entire section. You're not selling Claude — you're naming pain everyone in the room has felt. Start with the opener out loud, slowly. Let it land. Every person in this room has been lost in a codebase at some point this year.
The table is the substance. Walk through each row briefly — one sentence per row, not a lecture. The point isn't to explain the scenarios in detail; it's to let people pick the one that resonates with them. Some will see themselves in the CLI row, others in the architecture question. That's fine.
The key reframe: before Claude, all three of these required other people or hours of solo archaeology. With Claude, they take minutes — and you stay unblocked.
Don't say "Claude helps you brainstorm." That's too vague. Stay specific: 30 minutes, 5 minutes, one back-and-forth. Concrete time numbers make it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takes the seed from 3-1 and shows it growing into real engineering work.
The escalation arc is important: thinking with Claude isn't just for quick lookups. It scales. Level 1 is a sanity check, Level 2 is a design session, Level 3 is a pairing session with someone who knows nothing about your codebase but will keep asking until they do.
The money line in Level 2 is "push back on its first suggestion." Say that out loud when you present it. That's what distinguishes this from prompt-and-accept: you are the engineer making the decision. Claude is the sparring partner helping you think it through. If you accept the first answer every time, you're using it wrong.
The CLI example in Level 3 is deliberately humble: "I have no idea how to use this CLI." That's a real moment. The reason Claude helps here isn't magic -- it's that it adjusts to where you actually are, not where the docs assume you are. It will give you a 3-step quickstart if that's what you need, or a full breakdown of the auth model if that's what's blocking you.
End on the closing line. Read it. Pause. That line is the thesis: it's not about Claude being smarter. It's about removing the friction of asking the question again. Most of us stop investigating when we hit the first dead end. Claude never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audience expects "hallucination" to be the big risk. Reframe immediately: "Hallucination is real but rare. The failures you will actually encounter are much sneakier." This sets up the case studies as surprising rather than obvious. Don't dwell here -- one minute, then move. The point is to shift expectations before the case studies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worker analogy -- it reframes the problem immediately. Claude isn't broken; it was never told what mattered. The analogy that follows well: a contractor who installs the smoke detector but doesn't wire it to power. It's there. It passes inspection. It doesn't work. This is the #1 thing you will encounter today. Don't spend more than 90 seconds here -- the case study on the next slide lands the concept better than the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we introduce the response framework. Two levels: prevent with a better prompt (Tier 1), or catch it by engaging with the output (Tier 2). Neither is hard -- but both require you to decide to do them. The scary thing about this failure mode: the deliverable was objectively better on every measurable dimension -- smaller, cleaner -- but lost critical content in the compression. Claude had no way to know what was load-bearing in the original. That's on you to specify, or on you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levels of response, each adding more effort. Tier 1 is cheapest -- just tell Claude what done looks like. Tier 2 is you doing the verification yourself. Tier 3 is the full decomposition with human gates: requirements first, then implement, then verify coverage -- with your review at each handoff. Use Tier 1 always; add Tier 2 or 3 based on how much the task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see this today. Claude will give you analysis that sounds authoritative but is actually speculation dressed up as finding. Correct the hallucination framing immediately -- hallucination is "the model invented a fact." Fact-free output is more dangerous because the facts are real -- Claude took a real number and built an unverified causal story on top of it. The reader's instinct to trust the numbers extends to trusting the story. One sentence distinction: "Claude isn't lying. It's extrapolating from real evidence without checking whether the extrapolation is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problems section. These four patterns are what Tier 2 -- engaging critically with output -- looks like in practice. Go through each one. For the hedge words example, read the "appears to" line aloud and ask: "Would you bet money on appears to?" That usually gets a laugh and makes the point stick. For the internal contradictions pattern, remind them: Claude wrote both sections -- it doesn't always notice it contradicted itself. You have to catch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know the two big failure modes and how to respond at three levels. Next: how to multiply your output by running more than one Claude at a time. This is Tier 3 in its clearest form -- you are not asking Claude to self-critique in a follow-up message. You are structuring the work so that raw data and conclusions are separate phases, with your review between them. The model cannot race ahead to recommendations before you have seen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aha moment for most people. You are not limited to one conversation. Open another terminal, start another Claude Code session, give it a different task. They are fully independent -- separate context, separate history. During the hackathon, even two sessions is a big upgrade over one. I personally run seven on a typical day, but start with two. The key insight is not "Claude is faster" -- it's that you stop being the bottleneck. While one session runs, you are already thinking about the next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The audience does not need to know about orchestration frameworks. The point is: if you have a task where quality matters and one agent's self-review is not enough, open a second session and have it review the first one's output. That is multi-agent in its simplest form. The mention of our internal setup is a curiosity teaser -- if someone asks, tell them after the session. Don't go deeper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example step by step. The audience should be thinking "I could try this right now." The key insight is not that two agents are better than one -- it is that the reviewer is independent. It has no context about WHY the coder made certain choices, so it evaluates the output on its own merits. That catches a different class of problems than self-review. The example is deliberately concrete and relatable -- input validation is something most devs have written. Keep the energy here practical and encouraging: this is not a research project, it is a pattern you can use in the next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to actually starting. 'Before we scatter, here is exactly what to do in the first 10 minutes. Step 1: get Claude oriented on your project. Step 2: give it a real task with plan-first prompting.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30-second slide. Do not sell the framework. The audience should feel: 'Oh, there is more depth if I want it, but I have everything I need to start.' If someone asks about it during Q&amp;A, great -- that is the right time for details. Here, it is just a teaser. Read the last line with warmth, not sales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"Seed the Q&amp;A with one of these if there is silence. The best hackathon Q&amp;A questions come from people who have already tried something and hit a wall. If you get a question about the multi-agent architecture from Section 5, give a 2-minute answer and offer to go deeper 1-on-1. Don't let the Q&amp;A become a framework deep-dive -- redirect to 'try it today and we can talk about scaling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pic>
        <p:nvPicPr>
          <p:cNvPr id="3" name="Image 0" descr="/home/fanderman/projects/luigis-box/presentations/assets/logo-full-white.png">    </p:cNvPr>
          <p:cNvPicPr>
            <a:picLocks noChangeAspect="1"/>
          </p:cNvPicPr>
          <p:nvPr/>
        </p:nvPicPr>
        <p:blipFill>
          <a:blip r:embed="rId2"/>
          <a:stretch>
            <a:fillRect/>
          </a:stretch>
        </p:blipFill>
        <p:spPr>
          <a:xfrm>
            <a:off x="594360" y="566928"/>
            <a:ext cx="1325880" cy="448056"/>
          </a:xfrm>
          <a:prstGeom prst="rect">
            <a:avLst/>
          </a:prstGeom>
        </p:spPr>
      </p:pic>
      <p:sp>
        <p:nvSpPr>
          <p:cNvPr id="4" name="Text 1"/>
          <p:cNvSpPr/>
          <p:nvPr/>
        </p:nvSpPr>
        <p:spPr>
          <a:xfrm>
            <a:off x="5779008" y="475488"/>
            <a:ext cx="3017520" cy="274320"/>
          </a:xfrm>
          <a:prstGeom prst="rect">
            <a:avLst/>
          </a:prstGeom>
          <a:noFill/>
          <a:ln/>
        </p:spPr>
        <p:txBody>
          <a:bodyPr wrap="square" rtlCol="0" anchor="t"/>
          <a:lstStyle/>
          <a:p>
            <a:pPr algn="r" indent="0" marL="0">
              <a:buNone/>
            </a:pPr>
            <a:r>
              <a:rPr lang="en-US" sz="1100" b="1" dirty="0">
                <a:solidFill>
                  <a:srgbClr val="FFFFFF"/>
                </a:solidFill>
                <a:latin typeface="Inter" pitchFamily="34" charset="0"/>
                <a:ea typeface="Inter" pitchFamily="34" charset="-122"/>
                <a:cs typeface="Inter" pitchFamily="34" charset="-120"/>
              </a:rPr>
              <a:t>luigisbox.com</a:t>
            </a:r>
            <a:endParaRPr lang="en-US" sz="1100" dirty="0"/>
          </a:p>
        </p:txBody>
      </p:sp>
      <p:sp>
        <p:nvSpPr>
          <p:cNvPr id="5" name="Text 2"/>
          <p:cNvSpPr/>
          <p:nvPr/>
        </p:nvSpPr>
        <p:spPr>
          <a:xfrm>
            <a:off x="594360" y="1463040"/>
            <a:ext cx="7955280" cy="640080"/>
          </a:xfrm>
          <a:prstGeom prst="rect">
            <a:avLst/>
          </a:prstGeom>
          <a:noFill/>
          <a:ln/>
        </p:spPr>
        <p:txBody>
          <a:bodyPr wrap="square" rtlCol="0" anchor="t">
            <a:normAutofit/>
          </a:bodyPr>
          <a:lstStyle/>
          <a:p>
            <a:pPr indent="0" marL="0">
              <a:buNone/>
            </a:pPr>
            <a:r>
              <a:rPr lang="en-US" sz="4000" b="1" dirty="0">
                <a:solidFill>
                  <a:srgbClr val="FFFFFF"/>
                </a:solidFill>
                <a:latin typeface="Inter" pitchFamily="34" charset="0"/>
                <a:ea typeface="Inter" pitchFamily="34" charset="-122"/>
                <a:cs typeface="Inter" pitchFamily="34" charset="-120"/>
              </a:rPr>
              <a:t>You Are Here To Build Something Real.</a:t>
            </a:r>
            <a:endParaRPr lang="en-US" sz="4000" dirty="0"/>
          </a:p>
        </p:txBody>
      </p:sp>
      <p:sp>
        <p:nvSpPr>
          <p:cNvPr id="6" name="Text 3"/>
          <p:cNvSpPr/>
          <p:nvPr/>
        </p:nvSpPr>
        <p:spPr>
          <a:xfrm>
            <a:off x="594360" y="2286000"/>
            <a:ext cx="7955280" cy="2286000"/>
          </a:xfrm>
          <a:prstGeom prst="rect">
            <a:avLst/>
          </a:prstGeom>
          <a:noFill/>
          <a:ln/>
        </p:spPr>
        <p:txBody>
          <a:bodyPr wrap="square" rtlCol="0" anchor="t"/>
          <a:lstStyle/>
          <a:p>
            <a:pPr indent="0" marL="0">
              <a:buNone/>
            </a:pPr>
            <a:r>
              <a:rPr lang="en-US" sz="1300" dirty="0">
                <a:solidFill>
                  <a:srgbClr val="F4FBFC"/>
                </a:solidFill>
                <a:latin typeface="Inter" pitchFamily="34" charset="0"/>
                <a:ea typeface="Inter" pitchFamily="34" charset="-122"/>
                <a:cs typeface="Inter" pitchFamily="34" charset="-120"/>
              </a:rPr>
              <a:t>You are here to build something real with Claude today.</a:t>
            </a:r>
            <a:endParaRPr lang="en-US" sz="1300" dirty="0"/>
          </a:p>
          <a:p>
            <a:pPr indent="0" marL="0">
              <a:buNone/>
            </a:pPr>
            <a:endParaRPr lang="en-US" sz="1300" dirty="0"/>
          </a:p>
          <a:p>
            <a:pPr indent="0" marL="0">
              <a:buNone/>
            </a:pPr>
            <a:r>
              <a:rPr lang="en-US" sz="1300" dirty="0">
                <a:solidFill>
                  <a:srgbClr val="F4FBFC"/>
                </a:solidFill>
                <a:latin typeface="Inter" pitchFamily="34" charset="0"/>
                <a:ea typeface="Inter" pitchFamily="34" charset="-122"/>
                <a:cs typeface="Inter" pitchFamily="34" charset="-120"/>
              </a:rPr>
              <a:t>By the end of this hackathon, you will have shipped working code — or at least broken something instructively. This talk gives you two things: the mental model that makes Claude click, and the patterns that keep it from wasting your time.</a:t>
            </a:r>
            <a:endParaRPr lang="en-US" sz="1300" dirty="0"/>
          </a:p>
          <a:p>
            <a:pPr indent="0" marL="0">
              <a:buNone/>
            </a:pPr>
            <a:endParaRPr lang="en-US" sz="1300" dirty="0"/>
          </a:p>
          <a:p>
            <a:pPr indent="0" marL="0">
              <a:buNone/>
            </a:pPr>
            <a:r>
              <a:rPr lang="en-US" sz="1300" dirty="0">
                <a:solidFill>
                  <a:srgbClr val="F4FBFC"/>
                </a:solidFill>
                <a:latin typeface="Inter" pitchFamily="34" charset="0"/>
                <a:ea typeface="Inter" pitchFamily="34" charset="-122"/>
                <a:cs typeface="Inter" pitchFamily="34" charset="-120"/>
              </a:rPr>
              <a:t>Some of you have been using Claude for months. Some of you opened it for the first time this week. Both are fine. The patterns are the same — what changes is how deep you go.</a:t>
            </a:r>
            <a:endParaRPr lang="en-US" sz="1300" dirty="0"/>
          </a:p>
          <a:p>
            <a:pPr indent="0" marL="0">
              <a:buNone/>
            </a:pPr>
            <a:endParaRPr lang="en-US" sz="1300" dirty="0"/>
          </a:p>
          <a:p>
            <a:pPr indent="0" marL="0">
              <a:buNone/>
            </a:pPr>
            <a:r>
              <a:rPr lang="en-US" sz="1300" dirty="0">
                <a:solidFill>
                  <a:srgbClr val="F4FBFC"/>
                </a:solidFill>
                <a:latin typeface="Inter" pitchFamily="34" charset="0"/>
                <a:ea typeface="Inter" pitchFamily="34" charset="-122"/>
                <a:cs typeface="Inter" pitchFamily="34" charset="-120"/>
              </a:rPr>
              <a:t>Forty-five minutes from now, you will know how Claude actually thinks, what goes wrong when you skip verification, and exactly what to try first. Then we build.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sp>
        <p:nvSpPr>
          <p:cNvPr id="3" name="Text 1"/>
          <p:cNvSpPr/>
          <p:nvPr/>
        </p:nvSpPr>
        <p:spPr>
          <a:xfrm>
            <a:off x="548640" y="365760"/>
            <a:ext cx="8046720" cy="457200"/>
          </a:xfrm>
          <a:prstGeom prst="rect">
            <a:avLst/>
          </a:prstGeom>
          <a:noFill/>
          <a:ln/>
        </p:spPr>
        <p:txBody>
          <a:bodyPr wrap="square" rtlCol="0" anchor="t">
            <a:normAutofit/>
          </a:bodyPr>
          <a:lstStyle/>
          <a:p>
            <a:pPr indent="0" marL="0">
              <a:buNone/>
            </a:pPr>
            <a:r>
              <a:rPr lang="en-US" sz="2400" b="1" dirty="0">
                <a:solidFill>
                  <a:srgbClr val="35C2D6"/>
                </a:solidFill>
                <a:latin typeface="Inter" pitchFamily="34" charset="0"/>
                <a:ea typeface="Inter" pitchFamily="34" charset="-122"/>
                <a:cs typeface="Inter" pitchFamily="34" charset="-120"/>
              </a:rPr>
              <a:t>Who I Am + Today's Roadmap</a:t>
            </a:r>
            <a:endParaRPr lang="en-US" sz="2400" dirty="0"/>
          </a:p>
        </p:txBody>
      </p:sp>
      <p:sp>
        <p:nvSpPr>
          <p:cNvPr id="4" name="Text 2"/>
          <p:cNvSpPr/>
          <p:nvPr/>
        </p:nvSpPr>
        <p:spPr>
          <a:xfrm>
            <a:off x="548640" y="914400"/>
            <a:ext cx="8046720" cy="822960"/>
          </a:xfrm>
          <a:prstGeom prst="rect">
            <a:avLst/>
          </a:prstGeom>
          <a:noFill/>
          <a:ln/>
        </p:spPr>
        <p:txBody>
          <a:bodyPr wrap="square" rtlCol="0" anchor="t"/>
          <a:lstStyle/>
          <a:p>
            <a:pPr indent="0" marL="0">
              <a:buNone/>
            </a:pPr>
            <a:r>
              <a:rPr lang="en-US" sz="1300" dirty="0">
                <a:solidFill>
                  <a:srgbClr val="F4FBFC"/>
                </a:solidFill>
                <a:latin typeface="Inter" pitchFamily="34" charset="0"/>
                <a:ea typeface="Inter" pitchFamily="34" charset="-122"/>
                <a:cs typeface="Inter" pitchFamily="34" charset="-120"/>
              </a:rPr>
              <a:t>I have been running Claude Code on real engineering work across multiple projects — not demos, production work. I have hit every failure mode you are about to hit.</a:t>
            </a:r>
            <a:endParaRPr lang="en-US" sz="1300" dirty="0"/>
          </a:p>
        </p:txBody>
      </p:sp>
      <p:sp>
        <p:nvSpPr>
          <p:cNvPr id="5" name="Text 3"/>
          <p:cNvSpPr/>
          <p:nvPr/>
        </p:nvSpPr>
        <p:spPr>
          <a:xfrm>
            <a:off x="548640" y="1874520"/>
            <a:ext cx="8046720" cy="2606040"/>
          </a:xfrm>
          <a:prstGeom prst="rect">
            <a:avLst/>
          </a:prstGeom>
          <a:noFill/>
          <a:ln/>
        </p:spPr>
        <p:txBody>
          <a:bodyPr wrap="square" rtlCol="0" anchor="t"/>
          <a:lstStyle/>
          <a:p>
            <a:pPr marL="342900" indent="-342900">
              <a:buSzPct val="100000"/>
              <a:buChar char="●"/>
            </a:pPr>
            <a:r>
              <a:rPr lang="en-US" sz="1300" dirty="0">
                <a:solidFill>
                  <a:srgbClr val="F4FBFC"/>
                </a:solidFill>
                <a:latin typeface="Inter" pitchFamily="34" charset="0"/>
                <a:ea typeface="Inter" pitchFamily="34" charset="-122"/>
                <a:cs typeface="Inter" pitchFamily="34" charset="-120"/>
              </a:rPr>
              <a:t>How Claude works — the mental model</a:t>
            </a:r>
            <a:endParaRPr lang="en-US" sz="1300" dirty="0"/>
          </a:p>
          <a:p>
            <a:pPr marL="342900" indent="-342900">
              <a:buSzPct val="100000"/>
              <a:buChar char="●"/>
            </a:pPr>
            <a:r>
              <a:rPr lang="en-US" sz="1300" dirty="0">
                <a:solidFill>
                  <a:srgbClr val="F4FBFC"/>
                </a:solidFill>
                <a:latin typeface="Inter" pitchFamily="34" charset="0"/>
                <a:ea typeface="Inter" pitchFamily="34" charset="-122"/>
                <a:cs typeface="Inter" pitchFamily="34" charset="-120"/>
              </a:rPr>
              <a:t>Thinking with Claude</a:t>
            </a:r>
            <a:endParaRPr lang="en-US" sz="1300" dirty="0"/>
          </a:p>
          <a:p>
            <a:pPr marL="342900" indent="-342900">
              <a:buSzPct val="100000"/>
              <a:buChar char="●"/>
            </a:pPr>
            <a:r>
              <a:rPr lang="en-US" sz="1300" dirty="0">
                <a:solidFill>
                  <a:srgbClr val="F4FBFC"/>
                </a:solidFill>
                <a:latin typeface="Inter" pitchFamily="34" charset="0"/>
                <a:ea typeface="Inter" pitchFamily="34" charset="-122"/>
                <a:cs typeface="Inter" pitchFamily="34" charset="-120"/>
              </a:rPr>
              <a:t>Problems and responses — what actually goes wrong and how to handle it</a:t>
            </a:r>
            <a:endParaRPr lang="en-US" sz="1300" dirty="0"/>
          </a:p>
          <a:p>
            <a:pPr marL="342900" indent="-342900">
              <a:buSzPct val="100000"/>
              <a:buChar char="●"/>
            </a:pPr>
            <a:r>
              <a:rPr lang="en-US" sz="1300" dirty="0">
                <a:solidFill>
                  <a:srgbClr val="F4FBFC"/>
                </a:solidFill>
                <a:latin typeface="Inter" pitchFamily="34" charset="0"/>
                <a:ea typeface="Inter" pitchFamily="34" charset="-122"/>
                <a:cs typeface="Inter" pitchFamily="34" charset="-120"/>
              </a:rPr>
              <a:t>Parallel and multi-agent workflows — session parallelism and agents that review each other</a:t>
            </a:r>
            <a:endParaRPr lang="en-US" sz="1300" dirty="0"/>
          </a:p>
          <a:p>
            <a:pPr marL="342900" indent="-342900">
              <a:buSzPct val="100000"/>
              <a:buChar char="●"/>
            </a:pPr>
            <a:r>
              <a:rPr lang="en-US" sz="1300" dirty="0">
                <a:solidFill>
                  <a:srgbClr val="F4FBFC"/>
                </a:solidFill>
                <a:latin typeface="Inter" pitchFamily="34" charset="0"/>
                <a:ea typeface="Inter" pitchFamily="34" charset="-122"/>
                <a:cs typeface="Inter" pitchFamily="34" charset="-120"/>
              </a:rPr>
              <a:t>Your first 10 minutes</a:t>
            </a:r>
            <a:endParaRPr lang="en-US" sz="1300" dirty="0"/>
          </a:p>
          <a:p>
            <a:pPr marL="342900" indent="-342900">
              <a:buSzPct val="100000"/>
              <a:buChar char="●"/>
            </a:pPr>
            <a:r>
              <a:rPr lang="en-US" sz="1300" dirty="0">
                <a:solidFill>
                  <a:srgbClr val="F4FBFC"/>
                </a:solidFill>
                <a:latin typeface="Inter" pitchFamily="34" charset="0"/>
                <a:ea typeface="Inter" pitchFamily="34" charset="-122"/>
                <a:cs typeface="Inter" pitchFamily="34" charset="-120"/>
              </a:rPr>
              <a:t>Going deeper</a:t>
            </a:r>
            <a:endParaRPr lang="en-US" sz="1300" dirty="0"/>
          </a:p>
          <a:p>
            <a:pPr marL="342900" indent="-342900">
              <a:buSzPct val="100000"/>
              <a:buChar char="●"/>
            </a:pPr>
            <a:r>
              <a:rPr lang="en-US" sz="1300" dirty="0">
                <a:solidFill>
                  <a:srgbClr val="F4FBFC"/>
                </a:solidFill>
                <a:latin typeface="Inter" pitchFamily="34" charset="0"/>
                <a:ea typeface="Inter" pitchFamily="34" charset="-122"/>
                <a:cs typeface="Inter" pitchFamily="34" charset="-120"/>
              </a:rPr>
              <a:t>Q&amp;A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pic>
        <p:nvPicPr>
          <p:cNvPr id="3" name="Image 0" descr="/home/fanderman/projects/luigis-box/presentations/assets/logo-full-white.png">    </p:cNvPr>
          <p:cNvPicPr>
            <a:picLocks noChangeAspect="1"/>
          </p:cNvPicPr>
          <p:nvPr/>
        </p:nvPicPr>
        <p:blipFill>
          <a:blip r:embed="rId2"/>
          <a:stretch>
            <a:fillRect/>
          </a:stretch>
        </p:blipFill>
        <p:spPr>
          <a:xfrm>
            <a:off x="594360" y="566928"/>
            <a:ext cx="1325880" cy="448056"/>
          </a:xfrm>
          <a:prstGeom prst="rect">
            <a:avLst/>
          </a:prstGeom>
        </p:spPr>
      </p:pic>
      <p:sp>
        <p:nvSpPr>
          <p:cNvPr id="4" name="Text 1"/>
          <p:cNvSpPr/>
          <p:nvPr/>
        </p:nvSpPr>
        <p:spPr>
          <a:xfrm>
            <a:off x="5779008" y="475488"/>
            <a:ext cx="3017520" cy="274320"/>
          </a:xfrm>
          <a:prstGeom prst="rect">
            <a:avLst/>
          </a:prstGeom>
          <a:noFill/>
          <a:ln/>
        </p:spPr>
        <p:txBody>
          <a:bodyPr wrap="square" rtlCol="0" anchor="t"/>
          <a:lstStyle/>
          <a:p>
            <a:pPr algn="r" indent="0" marL="0">
              <a:buNone/>
            </a:pPr>
            <a:r>
              <a:rPr lang="en-US" sz="1100" b="1" dirty="0">
                <a:solidFill>
                  <a:srgbClr val="FFFFFF"/>
                </a:solidFill>
                <a:latin typeface="Inter" pitchFamily="34" charset="0"/>
                <a:ea typeface="Inter" pitchFamily="34" charset="-122"/>
                <a:cs typeface="Inter" pitchFamily="34" charset="-120"/>
              </a:rPr>
              <a:t>luigisbox.com</a:t>
            </a:r>
            <a:endParaRPr lang="en-US" sz="1100" dirty="0"/>
          </a:p>
        </p:txBody>
      </p:sp>
      <p:sp>
        <p:nvSpPr>
          <p:cNvPr id="5" name="Text 2"/>
          <p:cNvSpPr/>
          <p:nvPr/>
        </p:nvSpPr>
        <p:spPr>
          <a:xfrm>
            <a:off x="594360" y="1645920"/>
            <a:ext cx="7955280" cy="731520"/>
          </a:xfrm>
          <a:prstGeom prst="rect">
            <a:avLst/>
          </a:prstGeom>
          <a:noFill/>
          <a:ln/>
        </p:spPr>
        <p:txBody>
          <a:bodyPr wrap="square" rtlCol="0" anchor="t">
            <a:normAutofit/>
          </a:bodyPr>
          <a:lstStyle/>
          <a:p>
            <a:pPr indent="0" marL="0">
              <a:buNone/>
            </a:pPr>
            <a:r>
              <a:rPr lang="en-US" sz="4500" b="1" dirty="0">
                <a:solidFill>
                  <a:srgbClr val="FFFFFF"/>
                </a:solidFill>
                <a:latin typeface="Inter" pitchFamily="34" charset="0"/>
                <a:ea typeface="Inter" pitchFamily="34" charset="-122"/>
                <a:cs typeface="Inter" pitchFamily="34" charset="-120"/>
              </a:rPr>
              <a:t>academy.anthropic.com</a:t>
            </a:r>
            <a:endParaRPr lang="en-US" sz="4500" dirty="0"/>
          </a:p>
        </p:txBody>
      </p:sp>
      <p:sp>
        <p:nvSpPr>
          <p:cNvPr id="6" name="Text 3"/>
          <p:cNvSpPr/>
          <p:nvPr/>
        </p:nvSpPr>
        <p:spPr>
          <a:xfrm>
            <a:off x="594360" y="2560320"/>
            <a:ext cx="7955280" cy="731520"/>
          </a:xfrm>
          <a:prstGeom prst="rect">
            <a:avLst/>
          </a:prstGeom>
          <a:noFill/>
          <a:ln/>
        </p:spPr>
        <p:txBody>
          <a:bodyPr wrap="square" rtlCol="0" anchor="t"/>
          <a:lstStyle/>
          <a:p>
            <a:pPr indent="0" marL="0">
              <a:buNone/>
            </a:pPr>
            <a:r>
              <a:rPr lang="en-US" sz="1800" dirty="0">
                <a:solidFill>
                  <a:srgbClr val="8899AA"/>
                </a:solidFill>
                <a:latin typeface="Inter" pitchFamily="34" charset="0"/>
                <a:ea typeface="Inter" pitchFamily="34" charset="-122"/>
                <a:cs typeface="Inter" pitchFamily="34" charset="-120"/>
              </a:rPr>
              <a:t>Anthropic's own learning resource — the best single place to go deeper on how Claude works, how to structure prompts, and how to get the most out of the tools.</a:t>
            </a:r>
            <a:endParaRPr lang="en-US" sz="1800" dirty="0"/>
          </a:p>
        </p:txBody>
      </p:sp>
      <p:sp>
        <p:nvSpPr>
          <p:cNvPr id="7" name="Text 4"/>
          <p:cNvSpPr/>
          <p:nvPr/>
        </p:nvSpPr>
        <p:spPr>
          <a:xfrm>
            <a:off x="594360" y="3474720"/>
            <a:ext cx="7955280" cy="457200"/>
          </a:xfrm>
          <a:prstGeom prst="rect">
            <a:avLst/>
          </a:prstGeom>
          <a:noFill/>
          <a:ln/>
        </p:spPr>
        <p:txBody>
          <a:bodyPr wrap="square" rtlCol="0" anchor="t"/>
          <a:lstStyle/>
          <a:p>
            <a:pPr indent="0" marL="0">
              <a:buNone/>
            </a:pPr>
            <a:r>
              <a:rPr lang="en-US" sz="1400" b="1" dirty="0">
                <a:solidFill>
                  <a:srgbClr val="35C2D6"/>
                </a:solidFill>
                <a:latin typeface="Inter" pitchFamily="34" charset="0"/>
                <a:ea typeface="Inter" pitchFamily="34" charset="-122"/>
                <a:cs typeface="Inter" pitchFamily="34" charset="-120"/>
              </a:rPr>
              <a:t>Bookmark it now. Even 1-2 hours there saves days of trial-and-error.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sp>
        <p:nvSpPr>
          <p:cNvPr id="3" name="Text 1"/>
          <p:cNvSpPr/>
          <p:nvPr/>
        </p:nvSpPr>
        <p:spPr>
          <a:xfrm>
            <a:off x="548640" y="365760"/>
            <a:ext cx="8046720" cy="457200"/>
          </a:xfrm>
          <a:prstGeom prst="rect">
            <a:avLst/>
          </a:prstGeom>
          <a:noFill/>
          <a:ln/>
        </p:spPr>
        <p:txBody>
          <a:bodyPr wrap="square" rtlCol="0" anchor="t">
            <a:normAutofit/>
          </a:bodyPr>
          <a:lstStyle/>
          <a:p>
            <a:pPr indent="0" marL="0">
              <a:buNone/>
            </a:pPr>
            <a:r>
              <a:rPr lang="en-US" sz="2400" b="1" dirty="0">
                <a:solidFill>
                  <a:srgbClr val="35C2D6"/>
                </a:solidFill>
                <a:latin typeface="Inter" pitchFamily="34" charset="0"/>
                <a:ea typeface="Inter" pitchFamily="34" charset="-122"/>
                <a:cs typeface="Inter" pitchFamily="34" charset="-120"/>
              </a:rPr>
              <a:t>The Context Window</a:t>
            </a:r>
            <a:endParaRPr lang="en-US" sz="2400" dirty="0"/>
          </a:p>
        </p:txBody>
      </p:sp>
      <p:sp>
        <p:nvSpPr>
          <p:cNvPr id="4" name="Text 2"/>
          <p:cNvSpPr/>
          <p:nvPr/>
        </p:nvSpPr>
        <p:spPr>
          <a:xfrm>
            <a:off x="548640" y="914400"/>
            <a:ext cx="8046720" cy="822960"/>
          </a:xfrm>
          <a:prstGeom prst="rect">
            <a:avLst/>
          </a:prstGeom>
          <a:noFill/>
          <a:ln/>
        </p:spPr>
        <p:txBody>
          <a:bodyPr wrap="square" rtlCol="0" anchor="t"/>
          <a:lstStyle/>
          <a:p>
            <a:pPr indent="0" marL="0">
              <a:buNone/>
            </a:pPr>
            <a:r>
              <a:rPr lang="en-US" sz="1300" dirty="0">
                <a:solidFill>
                  <a:srgbClr val="F4FBFC"/>
                </a:solidFill>
                <a:latin typeface="Inter" pitchFamily="34" charset="0"/>
                <a:ea typeface="Inter" pitchFamily="34" charset="-122"/>
                <a:cs typeface="Inter" pitchFamily="34" charset="-120"/>
              </a:rPr>
              <a:t>Every message you send, Claude receives your entire conversation history — not just your last message. Think of it as a desk: the more papers you pile on, the harder it is to find the right one.</a:t>
            </a:r>
            <a:endParaRPr lang="en-US" sz="1300" dirty="0"/>
          </a:p>
        </p:txBody>
      </p:sp>
      <p:sp>
        <p:nvSpPr>
          <p:cNvPr id="5" name="Text 3"/>
          <p:cNvSpPr/>
          <p:nvPr/>
        </p:nvSpPr>
        <p:spPr>
          <a:xfrm>
            <a:off x="548640" y="1828800"/>
            <a:ext cx="8046720" cy="960120"/>
          </a:xfrm>
          <a:prstGeom prst="rect">
            <a:avLst/>
          </a:prstGeom>
          <a:noFill/>
          <a:ln/>
        </p:spPr>
        <p:txBody>
          <a:bodyPr wrap="square" rtlCol="0" anchor="t"/>
          <a:lstStyle/>
          <a:p>
            <a:pPr indent="0" marL="0">
              <a:buNone/>
            </a:pPr>
            <a:r>
              <a:rPr lang="en-US" sz="1300" dirty="0">
                <a:solidFill>
                  <a:srgbClr val="F4FBFC"/>
                </a:solidFill>
                <a:latin typeface="Inter" pitchFamily="34" charset="0"/>
                <a:ea typeface="Inter" pitchFamily="34" charset="-122"/>
                <a:cs typeface="Inter" pitchFamily="34" charset="-120"/>
              </a:rPr>
              <a:t>As context grows, output quality degrades — measurably. Not because Claude runs out of memory. Because attention dilutes: more tokens competing for the same model capacity. Research shows 13-85% output quality degradation in large contexts — even when retrieval is technically perfect.</a:t>
            </a:r>
            <a:endParaRPr lang="en-US" sz="1300" dirty="0"/>
          </a:p>
        </p:txBody>
      </p:sp>
      <p:sp>
        <p:nvSpPr>
          <p:cNvPr id="6" name="Text 4"/>
          <p:cNvSpPr/>
          <p:nvPr/>
        </p:nvSpPr>
        <p:spPr>
          <a:xfrm>
            <a:off x="548640" y="2880360"/>
            <a:ext cx="8046720" cy="1691640"/>
          </a:xfrm>
          <a:prstGeom prst="rect">
            <a:avLst/>
          </a:prstGeom>
          <a:noFill/>
          <a:ln/>
        </p:spPr>
        <p:txBody>
          <a:bodyPr wrap="square" rtlCol="0" anchor="t"/>
          <a:lstStyle/>
          <a:p>
            <a:pPr marL="342900" indent="-342900">
              <a:buSzPct val="100000"/>
              <a:buChar char="●"/>
            </a:pPr>
            <a:r>
              <a:rPr lang="en-US" sz="1200" dirty="0">
                <a:solidFill>
                  <a:srgbClr val="8899AA"/>
                </a:solidFill>
                <a:latin typeface="Inter" pitchFamily="34" charset="0"/>
                <a:ea typeface="Inter" pitchFamily="34" charset="-122"/>
                <a:cs typeface="Inter" pitchFamily="34" charset="-120"/>
              </a:rPr>
              <a:t>Don't spam — each message adds to the pile</a:t>
            </a:r>
            <a:endParaRPr lang="en-US" sz="1200" dirty="0"/>
          </a:p>
          <a:p>
            <a:pPr marL="342900" indent="-342900">
              <a:buSzPct val="100000"/>
              <a:buChar char="●"/>
            </a:pPr>
            <a:r>
              <a:rPr lang="en-US" sz="1200" dirty="0">
                <a:solidFill>
                  <a:srgbClr val="8899AA"/>
                </a:solidFill>
                <a:latin typeface="Inter" pitchFamily="34" charset="0"/>
                <a:ea typeface="Inter" pitchFamily="34" charset="-122"/>
                <a:cs typeface="Inter" pitchFamily="34" charset="-120"/>
              </a:rPr>
              <a:t>Start fresh sessions when switching tasks</a:t>
            </a:r>
            <a:endParaRPr lang="en-US" sz="1200" dirty="0"/>
          </a:p>
          <a:p>
            <a:pPr marL="342900" indent="-342900">
              <a:buSzPct val="100000"/>
              <a:buChar char="●"/>
            </a:pPr>
            <a:r>
              <a:rPr lang="en-US" sz="1200" dirty="0">
                <a:solidFill>
                  <a:srgbClr val="8899AA"/>
                </a:solidFill>
                <a:latin typeface="Inter" pitchFamily="34" charset="0"/>
                <a:ea typeface="Inter" pitchFamily="34" charset="-122"/>
                <a:cs typeface="Inter" pitchFamily="34" charset="-120"/>
              </a:rPr>
              <a:t>Past ~100k tokens, you are in diminishing returns</a:t>
            </a:r>
            <a:endParaRPr lang="en-US" sz="1200" dirty="0"/>
          </a:p>
          <a:p>
            <a:pPr marL="342900" indent="-342900">
              <a:buSzPct val="100000"/>
              <a:buChar char="●"/>
            </a:pPr>
            <a:r>
              <a:rPr lang="en-US" sz="1200" dirty="0">
                <a:solidFill>
                  <a:srgbClr val="8899AA"/>
                </a:solidFill>
                <a:latin typeface="Inter" pitchFamily="34" charset="0"/>
                <a:ea typeface="Inter" pitchFamily="34" charset="-122"/>
                <a:cs typeface="Inter" pitchFamily="34" charset="-120"/>
              </a:rPr>
              <a:t>A 200k-context question costs many times more than the same question in a 20k context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sp>
        <p:nvSpPr>
          <p:cNvPr id="3" name="Text 1"/>
          <p:cNvSpPr/>
          <p:nvPr/>
        </p:nvSpPr>
        <p:spPr>
          <a:xfrm>
            <a:off x="548640" y="365760"/>
            <a:ext cx="8046720" cy="457200"/>
          </a:xfrm>
          <a:prstGeom prst="rect">
            <a:avLst/>
          </a:prstGeom>
          <a:noFill/>
          <a:ln/>
        </p:spPr>
        <p:txBody>
          <a:bodyPr wrap="square" rtlCol="0" anchor="t">
            <a:normAutofit/>
          </a:bodyPr>
          <a:lstStyle/>
          <a:p>
            <a:pPr indent="0" marL="0">
              <a:buNone/>
            </a:pPr>
            <a:r>
              <a:rPr lang="en-US" sz="2400" b="1" dirty="0">
                <a:solidFill>
                  <a:srgbClr val="35C2D6"/>
                </a:solidFill>
                <a:latin typeface="Inter" pitchFamily="34" charset="0"/>
                <a:ea typeface="Inter" pitchFamily="34" charset="-122"/>
                <a:cs typeface="Inter" pitchFamily="34" charset="-120"/>
              </a:rPr>
              <a:t>Claude Doesn't Know What You Don't Tell It</a:t>
            </a:r>
            <a:endParaRPr lang="en-US" sz="2400" dirty="0"/>
          </a:p>
        </p:txBody>
      </p:sp>
      <p:sp>
        <p:nvSpPr>
          <p:cNvPr id="4" name="Text 2"/>
          <p:cNvSpPr/>
          <p:nvPr/>
        </p:nvSpPr>
        <p:spPr>
          <a:xfrm>
            <a:off x="548640" y="914400"/>
            <a:ext cx="8046720" cy="685800"/>
          </a:xfrm>
          <a:prstGeom prst="rect">
            <a:avLst/>
          </a:prstGeom>
          <a:noFill/>
          <a:ln/>
        </p:spPr>
        <p:txBody>
          <a:bodyPr wrap="square" rtlCol="0" anchor="t"/>
          <a:lstStyle/>
          <a:p>
            <a:pPr indent="0" marL="0">
              <a:buNone/>
            </a:pPr>
            <a:r>
              <a:rPr lang="en-US" sz="1300" dirty="0">
                <a:solidFill>
                  <a:srgbClr val="F4FBFC"/>
                </a:solidFill>
                <a:latin typeface="Inter" pitchFamily="34" charset="0"/>
                <a:ea typeface="Inter" pitchFamily="34" charset="-122"/>
                <a:cs typeface="Inter" pitchFamily="34" charset="-120"/>
              </a:rPr>
              <a:t>Claude has no memory across sessions. It does not remember what you built last week, your team's conventions, or the decisions you made yesterday.</a:t>
            </a:r>
            <a:endParaRPr lang="en-US" sz="1300" dirty="0"/>
          </a:p>
        </p:txBody>
      </p:sp>
      <p:sp>
        <p:nvSpPr>
          <p:cNvPr id="5" name="Text 3"/>
          <p:cNvSpPr/>
          <p:nvPr/>
        </p:nvSpPr>
        <p:spPr>
          <a:xfrm>
            <a:off x="1097280" y="1737360"/>
            <a:ext cx="6400800" cy="1097280"/>
          </a:xfrm>
          <a:prstGeom prst="rect">
            <a:avLst/>
          </a:prstGeom>
          <a:noFill/>
          <a:ln/>
        </p:spPr>
        <p:txBody>
          <a:bodyPr wrap="square" rtlCol="0" anchor="t"/>
          <a:lstStyle/>
          <a:p>
            <a:pPr marL="342900" indent="-342900">
              <a:buSzPct val="100000"/>
              <a:buChar char="●"/>
            </a:pPr>
            <a:r>
              <a:rPr lang="en-US" sz="1300" dirty="0">
                <a:solidFill>
                  <a:srgbClr val="F4FBFC"/>
                </a:solidFill>
                <a:latin typeface="Inter" pitchFamily="34" charset="0"/>
                <a:ea typeface="Inter" pitchFamily="34" charset="-122"/>
                <a:cs typeface="Inter" pitchFamily="34" charset="-120"/>
              </a:rPr>
              <a:t>Files and code it should read</a:t>
            </a:r>
            <a:endParaRPr lang="en-US" sz="1300" dirty="0"/>
          </a:p>
          <a:p>
            <a:pPr marL="342900" indent="-342900">
              <a:buSzPct val="100000"/>
              <a:buChar char="●"/>
            </a:pPr>
            <a:r>
              <a:rPr lang="en-US" sz="1300" dirty="0">
                <a:solidFill>
                  <a:srgbClr val="F4FBFC"/>
                </a:solidFill>
                <a:latin typeface="Inter" pitchFamily="34" charset="0"/>
                <a:ea typeface="Inter" pitchFamily="34" charset="-122"/>
                <a:cs typeface="Inter" pitchFamily="34" charset="-120"/>
              </a:rPr>
              <a:t>Docs and guidelines it should follow</a:t>
            </a:r>
            <a:endParaRPr lang="en-US" sz="1300" dirty="0"/>
          </a:p>
          <a:p>
            <a:pPr marL="342900" indent="-342900">
              <a:buSzPct val="100000"/>
              <a:buChar char="●"/>
            </a:pPr>
            <a:r>
              <a:rPr lang="en-US" sz="1300" dirty="0">
                <a:solidFill>
                  <a:srgbClr val="F4FBFC"/>
                </a:solidFill>
                <a:latin typeface="Inter" pitchFamily="34" charset="0"/>
                <a:ea typeface="Inter" pitchFamily="34" charset="-122"/>
                <a:cs typeface="Inter" pitchFamily="34" charset="-120"/>
              </a:rPr>
              <a:t>Context about what already exists and why</a:t>
            </a:r>
            <a:endParaRPr lang="en-US" sz="1300" dirty="0"/>
          </a:p>
        </p:txBody>
      </p:sp>
      <p:sp>
        <p:nvSpPr>
          <p:cNvPr id="6" name="Text 4"/>
          <p:cNvSpPr/>
          <p:nvPr/>
        </p:nvSpPr>
        <p:spPr>
          <a:xfrm>
            <a:off x="548640" y="2971800"/>
            <a:ext cx="7040880" cy="1143000"/>
          </a:xfrm>
          <a:prstGeom prst="rect">
            <a:avLst/>
          </a:prstGeom>
          <a:noFill/>
          <a:ln/>
        </p:spPr>
        <p:txBody>
          <a:bodyPr wrap="square" rtlCol="0" anchor="t"/>
          <a:lstStyle/>
          <a:p>
            <a:pPr indent="0" marL="0">
              <a:buNone/>
            </a:pPr>
            <a:r>
              <a:rPr lang="en-US" sz="1200" dirty="0">
                <a:solidFill>
                  <a:srgbClr val="8899AA"/>
                </a:solidFill>
                <a:latin typeface="Inter" pitchFamily="34" charset="0"/>
                <a:ea typeface="Inter" pitchFamily="34" charset="-122"/>
                <a:cs typeface="Inter" pitchFamily="34" charset="-120"/>
              </a:rPr>
              <a:t>For Claude Code: CLAUDE.md is your persistent context file. Everything you put there loads into every session automatically. For Claude.ai: Projects let you load recurring context once and reuse it across conversations.</a:t>
            </a:r>
            <a:endParaRPr lang="en-US" sz="1200" dirty="0"/>
          </a:p>
        </p:txBody>
      </p:sp>
      <p:pic>
        <p:nvPicPr>
          <p:cNvPr id="7" name="Image 0" descr="/home/fanderman/projects/luigis-box/presentations/assets/icons/ai-sparkle.png">    </p:cNvPr>
          <p:cNvPicPr>
            <a:picLocks noChangeAspect="1"/>
          </p:cNvPicPr>
          <p:nvPr/>
        </p:nvPicPr>
        <p:blipFill>
          <a:blip r:embed="rId2"/>
          <a:stretch>
            <a:fillRect/>
          </a:stretch>
        </p:blipFill>
        <p:spPr>
          <a:xfrm>
            <a:off x="7863840" y="3200400"/>
            <a:ext cx="457200" cy="457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sp>
        <p:nvSpPr>
          <p:cNvPr id="3" name="Text 1"/>
          <p:cNvSpPr/>
          <p:nvPr/>
        </p:nvSpPr>
        <p:spPr>
          <a:xfrm>
            <a:off x="548640" y="365760"/>
            <a:ext cx="6858000" cy="457200"/>
          </a:xfrm>
          <a:prstGeom prst="rect">
            <a:avLst/>
          </a:prstGeom>
          <a:noFill/>
          <a:ln/>
        </p:spPr>
        <p:txBody>
          <a:bodyPr wrap="square" rtlCol="0" anchor="t">
            <a:normAutofit/>
          </a:bodyPr>
          <a:lstStyle/>
          <a:p>
            <a:pPr indent="0" marL="0">
              <a:buNone/>
            </a:pPr>
            <a:r>
              <a:rPr lang="en-US" sz="2400" b="1" dirty="0">
                <a:solidFill>
                  <a:srgbClr val="35C2D6"/>
                </a:solidFill>
                <a:latin typeface="Inter" pitchFamily="34" charset="0"/>
                <a:ea typeface="Inter" pitchFamily="34" charset="-122"/>
                <a:cs typeface="Inter" pitchFamily="34" charset="-120"/>
              </a:rPr>
              <a:t>Ask Claude About Claude</a:t>
            </a:r>
            <a:endParaRPr lang="en-US" sz="2400" dirty="0"/>
          </a:p>
        </p:txBody>
      </p:sp>
      <p:pic>
        <p:nvPicPr>
          <p:cNvPr id="4" name="Image 0" descr="/home/fanderman/projects/luigis-box/presentations/assets/icons/ai-sparkle.png">    </p:cNvPr>
          <p:cNvPicPr>
            <a:picLocks noChangeAspect="1"/>
          </p:cNvPicPr>
          <p:nvPr/>
        </p:nvPicPr>
        <p:blipFill>
          <a:blip r:embed="rId2"/>
          <a:stretch>
            <a:fillRect/>
          </a:stretch>
        </p:blipFill>
        <p:spPr>
          <a:xfrm>
            <a:off x="7589520" y="365760"/>
            <a:ext cx="457200" cy="457200"/>
          </a:xfrm>
          <a:prstGeom prst="rect">
            <a:avLst/>
          </a:prstGeom>
        </p:spPr>
      </p:pic>
      <p:sp>
        <p:nvSpPr>
          <p:cNvPr id="5" name="Text 2"/>
          <p:cNvSpPr/>
          <p:nvPr/>
        </p:nvSpPr>
        <p:spPr>
          <a:xfrm>
            <a:off x="548640" y="1005840"/>
            <a:ext cx="8046720" cy="1005840"/>
          </a:xfrm>
          <a:prstGeom prst="rect">
            <a:avLst/>
          </a:prstGeom>
          <a:noFill/>
          <a:ln/>
        </p:spPr>
        <p:txBody>
          <a:bodyPr wrap="square" rtlCol="0" anchor="t"/>
          <a:lstStyle/>
          <a:p>
            <a:pPr indent="0" marL="0">
              <a:buNone/>
            </a:pPr>
            <a:r>
              <a:rPr lang="en-US" sz="1300" dirty="0">
                <a:solidFill>
                  <a:srgbClr val="F4FBFC"/>
                </a:solidFill>
                <a:latin typeface="Inter" pitchFamily="34" charset="0"/>
                <a:ea typeface="Inter" pitchFamily="34" charset="-122"/>
                <a:cs typeface="Inter" pitchFamily="34" charset="-120"/>
              </a:rPr>
              <a:t>Claude is meta-aware — use that.</a:t>
            </a:r>
            <a:endParaRPr lang="en-US" sz="1300" dirty="0"/>
          </a:p>
          <a:p>
            <a:pPr indent="0" marL="0">
              <a:buNone/>
            </a:pPr>
            <a:endParaRPr lang="en-US" sz="1300" dirty="0"/>
          </a:p>
          <a:p>
            <a:pPr indent="0" marL="0">
              <a:buNone/>
            </a:pPr>
            <a:r>
              <a:rPr lang="en-US" sz="1300" dirty="0">
                <a:solidFill>
                  <a:srgbClr val="F4FBFC"/>
                </a:solidFill>
                <a:latin typeface="Inter" pitchFamily="34" charset="0"/>
                <a:ea typeface="Inter" pitchFamily="34" charset="-122"/>
                <a:cs typeface="Inter" pitchFamily="34" charset="-120"/>
              </a:rPr>
              <a:t>Not obvious to most users: Claude can discuss its own workflow, limitations, and what would work best for your task. Ask it:</a:t>
            </a:r>
            <a:endParaRPr lang="en-US" sz="1300" dirty="0"/>
          </a:p>
        </p:txBody>
      </p:sp>
      <p:sp>
        <p:nvSpPr>
          <p:cNvPr id="6" name="Text 3"/>
          <p:cNvSpPr/>
          <p:nvPr/>
        </p:nvSpPr>
        <p:spPr>
          <a:xfrm>
            <a:off x="548640" y="2103120"/>
            <a:ext cx="8046720" cy="1554480"/>
          </a:xfrm>
          <a:prstGeom prst="rect">
            <a:avLst/>
          </a:prstGeom>
          <a:noFill/>
          <a:ln/>
        </p:spPr>
        <p:txBody>
          <a:bodyPr wrap="square" rtlCol="0" anchor="t"/>
          <a:lstStyle/>
          <a:p>
            <a:pPr marL="342900" indent="-342900">
              <a:buSzPct val="100000"/>
              <a:buChar char="●"/>
            </a:pPr>
            <a:r>
              <a:rPr lang="en-US" sz="1300" dirty="0">
                <a:solidFill>
                  <a:srgbClr val="F4FBFC"/>
                </a:solidFill>
                <a:latin typeface="Inter" pitchFamily="34" charset="0"/>
                <a:ea typeface="Inter" pitchFamily="34" charset="-122"/>
                <a:cs typeface="Inter" pitchFamily="34" charset="-120"/>
              </a:rPr>
              <a:t>"How should I structure this conversation for you?"</a:t>
            </a:r>
            <a:endParaRPr lang="en-US" sz="1300" dirty="0"/>
          </a:p>
          <a:p>
            <a:pPr marL="342900" indent="-342900">
              <a:buSzPct val="100000"/>
              <a:buChar char="●"/>
            </a:pPr>
            <a:r>
              <a:rPr lang="en-US" sz="1300" dirty="0">
                <a:solidFill>
                  <a:srgbClr val="F4FBFC"/>
                </a:solidFill>
                <a:latin typeface="Inter" pitchFamily="34" charset="0"/>
                <a:ea typeface="Inter" pitchFamily="34" charset="-122"/>
                <a:cs typeface="Inter" pitchFamily="34" charset="-120"/>
              </a:rPr>
              <a:t>"What context do you need from me to do this well?"</a:t>
            </a:r>
            <a:endParaRPr lang="en-US" sz="1300" dirty="0"/>
          </a:p>
          <a:p>
            <a:pPr marL="342900" indent="-342900">
              <a:buSzPct val="100000"/>
              <a:buChar char="●"/>
            </a:pPr>
            <a:r>
              <a:rPr lang="en-US" sz="1300" dirty="0">
                <a:solidFill>
                  <a:srgbClr val="F4FBFC"/>
                </a:solidFill>
                <a:latin typeface="Inter" pitchFamily="34" charset="0"/>
                <a:ea typeface="Inter" pitchFamily="34" charset="-122"/>
                <a:cs typeface="Inter" pitchFamily="34" charset="-120"/>
              </a:rPr>
              <a:t>"Before you start, tell me what you understood and what you plan to do."</a:t>
            </a:r>
            <a:endParaRPr lang="en-US" sz="1300" dirty="0"/>
          </a:p>
        </p:txBody>
      </p:sp>
      <p:sp>
        <p:nvSpPr>
          <p:cNvPr id="7" name="Text 4"/>
          <p:cNvSpPr/>
          <p:nvPr/>
        </p:nvSpPr>
        <p:spPr>
          <a:xfrm>
            <a:off x="548640" y="3749040"/>
            <a:ext cx="8046720" cy="731520"/>
          </a:xfrm>
          <a:prstGeom prst="rect">
            <a:avLst/>
          </a:prstGeom>
          <a:noFill/>
          <a:ln/>
        </p:spPr>
        <p:txBody>
          <a:bodyPr wrap="square" rtlCol="0" anchor="t"/>
          <a:lstStyle/>
          <a:p>
            <a:pPr indent="0" marL="0">
              <a:buNone/>
            </a:pPr>
            <a:r>
              <a:rPr lang="en-US" sz="1400" b="1" dirty="0">
                <a:solidFill>
                  <a:srgbClr val="35C2D6"/>
                </a:solidFill>
                <a:latin typeface="Inter" pitchFamily="34" charset="0"/>
                <a:ea typeface="Inter" pitchFamily="34" charset="-122"/>
                <a:cs typeface="Inter" pitchFamily="34" charset="-120"/>
              </a:rPr>
              <a:t>Make confirmation a habit. That last ask — having Claude confirm assumptions before starting — is the one to emphasize.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pic>
        <p:nvPicPr>
          <p:cNvPr id="3" name="Image 0" descr="/home/fanderman/projects/luigis-box/presentations/assets/icon-color.png">    </p:cNvPr>
          <p:cNvPicPr>
            <a:picLocks noChangeAspect="1"/>
          </p:cNvPicPr>
          <p:nvPr/>
        </p:nvPicPr>
        <p:blipFill>
          <a:blip r:embed="rId1"/>
          <a:stretch>
            <a:fillRect/>
          </a:stretch>
        </p:blipFill>
        <p:spPr>
          <a:xfrm>
            <a:off x="8257032" y="566928"/>
            <a:ext cx="292608" cy="292608"/>
          </a:xfrm>
          <a:prstGeom prst="rect">
            <a:avLst/>
          </a:prstGeom>
        </p:spPr>
      </p:pic>
      <p:sp>
        <p:nvSpPr>
          <p:cNvPr id="4" name="Text 1"/>
          <p:cNvSpPr/>
          <p:nvPr/>
        </p:nvSpPr>
        <p:spPr>
          <a:xfrm>
            <a:off x="548640" y="365760"/>
            <a:ext cx="7635240" cy="457200"/>
          </a:xfrm>
          <a:prstGeom prst="rect">
            <a:avLst/>
          </a:prstGeom>
          <a:noFill/>
          <a:ln/>
        </p:spPr>
        <p:txBody>
          <a:bodyPr wrap="square" rtlCol="0" anchor="t">
            <a:normAutofit/>
          </a:bodyPr>
          <a:lstStyle/>
          <a:p>
            <a:pPr indent="0" marL="0">
              <a:buNone/>
            </a:pPr>
            <a:r>
              <a:rPr lang="en-US" sz="2400" b="1" dirty="0">
                <a:solidFill>
                  <a:srgbClr val="2DA1BA"/>
                </a:solidFill>
                <a:latin typeface="Inter" pitchFamily="34" charset="0"/>
                <a:ea typeface="Inter" pitchFamily="34" charset="-122"/>
                <a:cs typeface="Inter" pitchFamily="34" charset="-120"/>
              </a:rPr>
              <a:t>Pick the Right Model</a:t>
            </a:r>
            <a:endParaRPr lang="en-US" sz="2400" dirty="0"/>
          </a:p>
        </p:txBody>
      </p:sp>
      <p:sp>
        <p:nvSpPr>
          <p:cNvPr id="5" name="Shape 2"/>
          <p:cNvSpPr/>
          <p:nvPr/>
        </p:nvSpPr>
        <p:spPr>
          <a:xfrm>
            <a:off x="576072" y="1207008"/>
            <a:ext cx="7973568" cy="1536192"/>
          </a:xfrm>
          <a:prstGeom prst="roundRect">
            <a:avLst>
              <a:gd name="adj" fmla="val 4762"/>
            </a:avLst>
          </a:prstGeom>
          <a:solidFill>
            <a:srgbClr val="E5F8FA"/>
          </a:solidFill>
          <a:ln/>
        </p:spPr>
      </p:sp>
      <p:sp>
        <p:nvSpPr>
          <p:cNvPr id="6" name="Text 3"/>
          <p:cNvSpPr/>
          <p:nvPr/>
        </p:nvSpPr>
        <p:spPr>
          <a:xfrm>
            <a:off x="667512" y="1316736"/>
            <a:ext cx="7790688" cy="274320"/>
          </a:xfrm>
          <a:prstGeom prst="rect">
            <a:avLst/>
          </a:prstGeom>
          <a:noFill/>
          <a:ln/>
        </p:spPr>
        <p:txBody>
          <a:bodyPr wrap="square" rtlCol="0" anchor="t">
            <a:normAutofit/>
          </a:bodyPr>
          <a:lstStyle/>
          <a:p>
            <a:pPr indent="0" marL="0">
              <a:buNone/>
            </a:pPr>
            <a:r>
              <a:rPr lang="en-US" sz="1200" b="1" dirty="0">
                <a:solidFill>
                  <a:srgbClr val="0D0D0F"/>
                </a:solidFill>
                <a:latin typeface="Inter" pitchFamily="34" charset="0"/>
                <a:ea typeface="Inter" pitchFamily="34" charset="-122"/>
                <a:cs typeface="Inter" pitchFamily="34" charset="-120"/>
              </a:rPr>
              <a:t>Opus with extended thinking</a:t>
            </a:r>
            <a:endParaRPr lang="en-US" sz="1200" dirty="0"/>
          </a:p>
        </p:txBody>
      </p:sp>
      <p:sp>
        <p:nvSpPr>
          <p:cNvPr id="7" name="Text 4"/>
          <p:cNvSpPr/>
          <p:nvPr/>
        </p:nvSpPr>
        <p:spPr>
          <a:xfrm>
            <a:off x="667512" y="1664208"/>
            <a:ext cx="7790688" cy="256032"/>
          </a:xfrm>
          <a:prstGeom prst="rect">
            <a:avLst/>
          </a:prstGeom>
          <a:noFill/>
          <a:ln/>
        </p:spPr>
        <p:txBody>
          <a:bodyPr wrap="square" rtlCol="0" anchor="t">
            <a:normAutofit/>
          </a:bodyPr>
          <a:lstStyle/>
          <a:p>
            <a:pPr indent="0" marL="0">
              <a:buNone/>
            </a:pPr>
            <a:r>
              <a:rPr lang="en-US" sz="1100" dirty="0">
                <a:solidFill>
                  <a:srgbClr val="0D0D0F"/>
                </a:solidFill>
                <a:latin typeface="Inter" pitchFamily="34" charset="0"/>
                <a:ea typeface="Inter" pitchFamily="34" charset="-122"/>
                <a:cs typeface="Inter" pitchFamily="34" charset="-120"/>
              </a:rPr>
              <a:t>Analysis, architecture, complex code, unknowns</a:t>
            </a:r>
            <a:endParaRPr lang="en-US" sz="1100" dirty="0"/>
          </a:p>
        </p:txBody>
      </p:sp>
      <p:sp>
        <p:nvSpPr>
          <p:cNvPr id="8" name="Shape 5"/>
          <p:cNvSpPr/>
          <p:nvPr/>
        </p:nvSpPr>
        <p:spPr>
          <a:xfrm>
            <a:off x="576072" y="2971800"/>
            <a:ext cx="7973568" cy="1536192"/>
          </a:xfrm>
          <a:prstGeom prst="roundRect">
            <a:avLst>
              <a:gd name="adj" fmla="val 4762"/>
            </a:avLst>
          </a:prstGeom>
          <a:solidFill>
            <a:srgbClr val="E5F8FA"/>
          </a:solidFill>
          <a:ln/>
        </p:spPr>
      </p:sp>
      <p:sp>
        <p:nvSpPr>
          <p:cNvPr id="9" name="Text 6"/>
          <p:cNvSpPr/>
          <p:nvPr/>
        </p:nvSpPr>
        <p:spPr>
          <a:xfrm>
            <a:off x="667512" y="3081528"/>
            <a:ext cx="7790688" cy="274320"/>
          </a:xfrm>
          <a:prstGeom prst="rect">
            <a:avLst/>
          </a:prstGeom>
          <a:noFill/>
          <a:ln/>
        </p:spPr>
        <p:txBody>
          <a:bodyPr wrap="square" rtlCol="0" anchor="t">
            <a:normAutofit/>
          </a:bodyPr>
          <a:lstStyle/>
          <a:p>
            <a:pPr indent="0" marL="0">
              <a:buNone/>
            </a:pPr>
            <a:r>
              <a:rPr lang="en-US" sz="1200" b="1" dirty="0">
                <a:solidFill>
                  <a:srgbClr val="0D0D0F"/>
                </a:solidFill>
                <a:latin typeface="Inter" pitchFamily="34" charset="0"/>
                <a:ea typeface="Inter" pitchFamily="34" charset="-122"/>
                <a:cs typeface="Inter" pitchFamily="34" charset="-120"/>
              </a:rPr>
              <a:t>Sonnet — faster, cheaper</a:t>
            </a:r>
            <a:endParaRPr lang="en-US" sz="1200" dirty="0"/>
          </a:p>
        </p:txBody>
      </p:sp>
      <p:sp>
        <p:nvSpPr>
          <p:cNvPr id="10" name="Text 7"/>
          <p:cNvSpPr/>
          <p:nvPr/>
        </p:nvSpPr>
        <p:spPr>
          <a:xfrm>
            <a:off x="667512" y="3429000"/>
            <a:ext cx="7790688" cy="256032"/>
          </a:xfrm>
          <a:prstGeom prst="rect">
            <a:avLst/>
          </a:prstGeom>
          <a:noFill/>
          <a:ln/>
        </p:spPr>
        <p:txBody>
          <a:bodyPr wrap="square" rtlCol="0" anchor="t">
            <a:normAutofit/>
          </a:bodyPr>
          <a:lstStyle/>
          <a:p>
            <a:pPr indent="0" marL="0">
              <a:buNone/>
            </a:pPr>
            <a:r>
              <a:rPr lang="en-US" sz="1100" dirty="0">
                <a:solidFill>
                  <a:srgbClr val="0D0D0F"/>
                </a:solidFill>
                <a:latin typeface="Inter" pitchFamily="34" charset="0"/>
                <a:ea typeface="Inter" pitchFamily="34" charset="-122"/>
                <a:cs typeface="Inter" pitchFamily="34" charset="-120"/>
              </a:rPr>
              <a:t>Formatting, simple edits, summarization</a:t>
            </a:r>
            <a:endParaRPr lang="en-US" sz="1100" dirty="0"/>
          </a:p>
        </p:txBody>
      </p:sp>
      <p:sp>
        <p:nvSpPr>
          <p:cNvPr id="11" name="Text 8"/>
          <p:cNvSpPr/>
          <p:nvPr/>
        </p:nvSpPr>
        <p:spPr>
          <a:xfrm>
            <a:off x="548640" y="4572000"/>
            <a:ext cx="8046720" cy="91440"/>
          </a:xfrm>
          <a:prstGeom prst="rect">
            <a:avLst/>
          </a:prstGeom>
          <a:noFill/>
          <a:ln/>
        </p:spPr>
        <p:txBody>
          <a:bodyPr wrap="square" rtlCol="0" anchor="t">
            <a:normAutofit/>
          </a:bodyPr>
          <a:lstStyle/>
          <a:p>
            <a:pPr indent="0" marL="0">
              <a:buNone/>
            </a:pPr>
            <a:r>
              <a:rPr lang="en-US" sz="1100" i="1" dirty="0">
                <a:solidFill>
                  <a:srgbClr val="4E6172"/>
                </a:solidFill>
                <a:latin typeface="Inter" pitchFamily="34" charset="0"/>
                <a:ea typeface="Inter" pitchFamily="34" charset="-122"/>
                <a:cs typeface="Inter" pitchFamily="34" charset="-120"/>
              </a:rPr>
              <a:t>Rule of thumb: if you would need to think hard about it yourself, Claude needs to think hard too.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sp>
        <p:nvSpPr>
          <p:cNvPr id="3" name="Text 1"/>
          <p:cNvSpPr/>
          <p:nvPr/>
        </p:nvSpPr>
        <p:spPr>
          <a:xfrm>
            <a:off x="548640" y="365760"/>
            <a:ext cx="8046720" cy="457200"/>
          </a:xfrm>
          <a:prstGeom prst="rect">
            <a:avLst/>
          </a:prstGeom>
          <a:noFill/>
          <a:ln/>
        </p:spPr>
        <p:txBody>
          <a:bodyPr wrap="square" rtlCol="0" anchor="t">
            <a:normAutofit/>
          </a:bodyPr>
          <a:lstStyle/>
          <a:p>
            <a:pPr indent="0" marL="0">
              <a:buNone/>
            </a:pPr>
            <a:r>
              <a:rPr lang="en-US" sz="2400" b="1" dirty="0">
                <a:solidFill>
                  <a:srgbClr val="35C2D6"/>
                </a:solidFill>
                <a:latin typeface="Inter" pitchFamily="34" charset="0"/>
                <a:ea typeface="Inter" pitchFamily="34" charset="-122"/>
                <a:cs typeface="Inter" pitchFamily="34" charset="-120"/>
              </a:rPr>
              <a:t>Think Like Claude's Manager</a:t>
            </a:r>
            <a:endParaRPr lang="en-US" sz="2400" dirty="0"/>
          </a:p>
        </p:txBody>
      </p:sp>
      <p:sp>
        <p:nvSpPr>
          <p:cNvPr id="4" name="Text 2"/>
          <p:cNvSpPr/>
          <p:nvPr/>
        </p:nvSpPr>
        <p:spPr>
          <a:xfrm>
            <a:off x="548640" y="914400"/>
            <a:ext cx="8046720" cy="502920"/>
          </a:xfrm>
          <a:prstGeom prst="rect">
            <a:avLst/>
          </a:prstGeom>
          <a:noFill/>
          <a:ln/>
        </p:spPr>
        <p:txBody>
          <a:bodyPr wrap="square" rtlCol="0" anchor="t"/>
          <a:lstStyle/>
          <a:p>
            <a:pPr indent="0" marL="0">
              <a:buNone/>
            </a:pPr>
            <a:r>
              <a:rPr lang="en-US" sz="1300" dirty="0">
                <a:solidFill>
                  <a:srgbClr val="F4FBFC"/>
                </a:solidFill>
                <a:latin typeface="Inter" pitchFamily="34" charset="0"/>
                <a:ea typeface="Inter" pitchFamily="34" charset="-122"/>
                <a:cs typeface="Inter" pitchFamily="34" charset="-120"/>
              </a:rPr>
              <a:t>When you ask Claude to do something, think about what you would need to perform that task well:</a:t>
            </a:r>
            <a:endParaRPr lang="en-US" sz="1300" dirty="0"/>
          </a:p>
        </p:txBody>
      </p:sp>
      <p:sp>
        <p:nvSpPr>
          <p:cNvPr id="5" name="Text 3"/>
          <p:cNvSpPr/>
          <p:nvPr/>
        </p:nvSpPr>
        <p:spPr>
          <a:xfrm>
            <a:off x="1097280" y="1508760"/>
            <a:ext cx="6858000" cy="1097280"/>
          </a:xfrm>
          <a:prstGeom prst="rect">
            <a:avLst/>
          </a:prstGeom>
          <a:noFill/>
          <a:ln/>
        </p:spPr>
        <p:txBody>
          <a:bodyPr wrap="square" rtlCol="0" anchor="t"/>
          <a:lstStyle/>
          <a:p>
            <a:pPr marL="342900" indent="-342900">
              <a:buSzPct val="100000"/>
              <a:buChar char="●"/>
            </a:pPr>
            <a:r>
              <a:rPr lang="en-US" sz="1200" dirty="0">
                <a:solidFill>
                  <a:srgbClr val="8899AA"/>
                </a:solidFill>
                <a:latin typeface="Inter" pitchFamily="34" charset="0"/>
                <a:ea typeface="Inter" pitchFamily="34" charset="-122"/>
                <a:cs typeface="Inter" pitchFamily="34" charset="-120"/>
              </a:rPr>
              <a:t>What context would you need?</a:t>
            </a:r>
            <a:endParaRPr lang="en-US" sz="1200" dirty="0"/>
          </a:p>
          <a:p>
            <a:pPr marL="342900" indent="-342900">
              <a:buSzPct val="100000"/>
              <a:buChar char="●"/>
            </a:pPr>
            <a:r>
              <a:rPr lang="en-US" sz="1200" dirty="0">
                <a:solidFill>
                  <a:srgbClr val="8899AA"/>
                </a:solidFill>
                <a:latin typeface="Inter" pitchFamily="34" charset="0"/>
                <a:ea typeface="Inter" pitchFamily="34" charset="-122"/>
                <a:cs typeface="Inter" pitchFamily="34" charset="-120"/>
              </a:rPr>
              <a:t>What references, constraints, or examples?</a:t>
            </a:r>
            <a:endParaRPr lang="en-US" sz="1200" dirty="0"/>
          </a:p>
          <a:p>
            <a:pPr marL="342900" indent="-342900">
              <a:buSzPct val="100000"/>
              <a:buChar char="●"/>
            </a:pPr>
            <a:r>
              <a:rPr lang="en-US" sz="1200" dirty="0">
                <a:solidFill>
                  <a:srgbClr val="8899AA"/>
                </a:solidFill>
                <a:latin typeface="Inter" pitchFamily="34" charset="0"/>
                <a:ea typeface="Inter" pitchFamily="34" charset="-122"/>
                <a:cs typeface="Inter" pitchFamily="34" charset="-120"/>
              </a:rPr>
              <a:t>What would you want clarified before starting?</a:t>
            </a:r>
            <a:endParaRPr lang="en-US" sz="1200" dirty="0"/>
          </a:p>
        </p:txBody>
      </p:sp>
      <p:sp>
        <p:nvSpPr>
          <p:cNvPr id="6" name="Text 4"/>
          <p:cNvSpPr/>
          <p:nvPr/>
        </p:nvSpPr>
        <p:spPr>
          <a:xfrm>
            <a:off x="548640" y="2697480"/>
            <a:ext cx="8046720" cy="777240"/>
          </a:xfrm>
          <a:prstGeom prst="rect">
            <a:avLst/>
          </a:prstGeom>
          <a:noFill/>
          <a:ln/>
        </p:spPr>
        <p:txBody>
          <a:bodyPr wrap="square" rtlCol="0" anchor="t"/>
          <a:lstStyle/>
          <a:p>
            <a:pPr indent="0" marL="0">
              <a:buNone/>
            </a:pPr>
            <a:r>
              <a:rPr lang="en-US" sz="1200" dirty="0">
                <a:solidFill>
                  <a:srgbClr val="F4FBFC"/>
                </a:solidFill>
                <a:latin typeface="Inter" pitchFamily="34" charset="0"/>
                <a:ea typeface="Inter" pitchFamily="34" charset="-122"/>
                <a:cs typeface="Inter" pitchFamily="34" charset="-120"/>
              </a:rPr>
              <a:t>When Claude fails — don't be discouraged. Ask: what would need to change for it to succeed? More context? Clearer instructions? A different approach entirely?</a:t>
            </a:r>
            <a:endParaRPr lang="en-US" sz="1200" dirty="0"/>
          </a:p>
        </p:txBody>
      </p:sp>
      <p:sp>
        <p:nvSpPr>
          <p:cNvPr id="7" name="Text 5"/>
          <p:cNvSpPr/>
          <p:nvPr/>
        </p:nvSpPr>
        <p:spPr>
          <a:xfrm>
            <a:off x="548640" y="3611880"/>
            <a:ext cx="8046720" cy="868680"/>
          </a:xfrm>
          <a:prstGeom prst="rect">
            <a:avLst/>
          </a:prstGeom>
          <a:noFill/>
          <a:ln/>
        </p:spPr>
        <p:txBody>
          <a:bodyPr wrap="square" rtlCol="0" anchor="t"/>
          <a:lstStyle/>
          <a:p>
            <a:pPr indent="0" marL="0">
              <a:buNone/>
            </a:pPr>
            <a:r>
              <a:rPr lang="en-US" sz="1400" b="1" dirty="0">
                <a:solidFill>
                  <a:srgbClr val="35C2D6"/>
                </a:solidFill>
                <a:latin typeface="Inter" pitchFamily="34" charset="0"/>
                <a:ea typeface="Inter" pitchFamily="34" charset="-122"/>
                <a:cs typeface="Inter" pitchFamily="34" charset="-120"/>
              </a:rPr>
              <a:t>The question is never "can Claude do this?" — it is "what does Claude need from me to do this well?"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pic>
        <p:nvPicPr>
          <p:cNvPr id="3" name="Image 0" descr="/home/fanderman/projects/luigis-box/presentations/assets/icon-color.png">    </p:cNvPr>
          <p:cNvPicPr>
            <a:picLocks noChangeAspect="1"/>
          </p:cNvPicPr>
          <p:nvPr/>
        </p:nvPicPr>
        <p:blipFill>
          <a:blip r:embed="rId1"/>
          <a:stretch>
            <a:fillRect/>
          </a:stretch>
        </p:blipFill>
        <p:spPr>
          <a:xfrm>
            <a:off x="8257032" y="566928"/>
            <a:ext cx="292608" cy="292608"/>
          </a:xfrm>
          <a:prstGeom prst="rect">
            <a:avLst/>
          </a:prstGeom>
        </p:spPr>
      </p:pic>
      <p:sp>
        <p:nvSpPr>
          <p:cNvPr id="4" name="Shape 1"/>
          <p:cNvSpPr/>
          <p:nvPr/>
        </p:nvSpPr>
        <p:spPr>
          <a:xfrm>
            <a:off x="1097280" y="1920240"/>
            <a:ext cx="3108960" cy="777240"/>
          </a:xfrm>
          <a:prstGeom prst="roundRect">
            <a:avLst>
              <a:gd name="adj" fmla="val 9412"/>
            </a:avLst>
          </a:prstGeom>
          <a:solidFill>
            <a:srgbClr val="E5F8FA"/>
          </a:solidFill>
          <a:ln/>
        </p:spPr>
      </p:sp>
      <p:sp>
        <p:nvSpPr>
          <p:cNvPr id="5" name="Text 2"/>
          <p:cNvSpPr/>
          <p:nvPr/>
        </p:nvSpPr>
        <p:spPr>
          <a:xfrm>
            <a:off x="1188720" y="2029968"/>
            <a:ext cx="292608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New codebase, no orientation</a:t>
            </a:r>
            <a:endParaRPr lang="en-US" sz="1100" dirty="0"/>
          </a:p>
        </p:txBody>
      </p:sp>
      <p:sp>
        <p:nvSpPr>
          <p:cNvPr id="6" name="Text 3"/>
          <p:cNvSpPr/>
          <p:nvPr/>
        </p:nvSpPr>
        <p:spPr>
          <a:xfrm>
            <a:off x="1188720" y="2377440"/>
            <a:ext cx="292608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Grep for 2 hours, misread naming conventions, debug a mismatch you introduced</a:t>
            </a:r>
            <a:endParaRPr lang="en-US" sz="1000" dirty="0"/>
          </a:p>
        </p:txBody>
      </p:sp>
      <p:sp>
        <p:nvSpPr>
          <p:cNvPr id="7" name="Shape 4"/>
          <p:cNvSpPr/>
          <p:nvPr/>
        </p:nvSpPr>
        <p:spPr>
          <a:xfrm>
            <a:off x="5029200" y="1920240"/>
            <a:ext cx="3108960" cy="777240"/>
          </a:xfrm>
          <a:prstGeom prst="roundRect">
            <a:avLst>
              <a:gd name="adj" fmla="val 9412"/>
            </a:avLst>
          </a:prstGeom>
          <a:solidFill>
            <a:srgbClr val="E5F8FA"/>
          </a:solidFill>
          <a:ln/>
        </p:spPr>
      </p:sp>
      <p:sp>
        <p:nvSpPr>
          <p:cNvPr id="8" name="Text 5"/>
          <p:cNvSpPr/>
          <p:nvPr/>
        </p:nvSpPr>
        <p:spPr>
          <a:xfrm>
            <a:off x="5120640" y="2029968"/>
            <a:ext cx="292608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30-min CLAUDE.md session</a:t>
            </a:r>
            <a:endParaRPr lang="en-US" sz="1100" dirty="0"/>
          </a:p>
        </p:txBody>
      </p:sp>
      <p:sp>
        <p:nvSpPr>
          <p:cNvPr id="9" name="Text 6"/>
          <p:cNvSpPr/>
          <p:nvPr/>
        </p:nvSpPr>
        <p:spPr>
          <a:xfrm>
            <a:off x="5120640" y="2377440"/>
            <a:ext cx="292608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Map the structure before you touch a file</a:t>
            </a:r>
            <a:endParaRPr lang="en-US" sz="1000" dirty="0"/>
          </a:p>
        </p:txBody>
      </p:sp>
      <p:sp>
        <p:nvSpPr>
          <p:cNvPr id="10" name="Shape 7"/>
          <p:cNvSpPr/>
          <p:nvPr/>
        </p:nvSpPr>
        <p:spPr>
          <a:xfrm>
            <a:off x="1097280" y="2788920"/>
            <a:ext cx="3108960" cy="777240"/>
          </a:xfrm>
          <a:prstGeom prst="roundRect">
            <a:avLst>
              <a:gd name="adj" fmla="val 9412"/>
            </a:avLst>
          </a:prstGeom>
          <a:solidFill>
            <a:srgbClr val="E5F8FA"/>
          </a:solidFill>
          <a:ln/>
        </p:spPr>
      </p:sp>
      <p:sp>
        <p:nvSpPr>
          <p:cNvPr id="11" name="Text 8"/>
          <p:cNvSpPr/>
          <p:nvPr/>
        </p:nvSpPr>
        <p:spPr>
          <a:xfrm>
            <a:off x="1188720" y="2898648"/>
            <a:ext cx="292608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Never used this CLI</a:t>
            </a:r>
            <a:endParaRPr lang="en-US" sz="1100" dirty="0"/>
          </a:p>
        </p:txBody>
      </p:sp>
      <p:sp>
        <p:nvSpPr>
          <p:cNvPr id="12" name="Text 9"/>
          <p:cNvSpPr/>
          <p:nvPr/>
        </p:nvSpPr>
        <p:spPr>
          <a:xfrm>
            <a:off x="1188720" y="3246120"/>
            <a:ext cx="292608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Read generic docs, guess at flags, run it wrong three times</a:t>
            </a:r>
            <a:endParaRPr lang="en-US" sz="1000" dirty="0"/>
          </a:p>
        </p:txBody>
      </p:sp>
      <p:sp>
        <p:nvSpPr>
          <p:cNvPr id="13" name="Shape 10"/>
          <p:cNvSpPr/>
          <p:nvPr/>
        </p:nvSpPr>
        <p:spPr>
          <a:xfrm>
            <a:off x="5029200" y="2788920"/>
            <a:ext cx="3108960" cy="777240"/>
          </a:xfrm>
          <a:prstGeom prst="roundRect">
            <a:avLst>
              <a:gd name="adj" fmla="val 9412"/>
            </a:avLst>
          </a:prstGeom>
          <a:solidFill>
            <a:srgbClr val="E5F8FA"/>
          </a:solidFill>
          <a:ln/>
        </p:spPr>
      </p:sp>
      <p:sp>
        <p:nvSpPr>
          <p:cNvPr id="14" name="Text 11"/>
          <p:cNvSpPr/>
          <p:nvPr/>
        </p:nvSpPr>
        <p:spPr>
          <a:xfrm>
            <a:off x="5120640" y="2898648"/>
            <a:ext cx="292608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Ask "where do I start?"</a:t>
            </a:r>
            <a:endParaRPr lang="en-US" sz="1100" dirty="0"/>
          </a:p>
        </p:txBody>
      </p:sp>
      <p:sp>
        <p:nvSpPr>
          <p:cNvPr id="15" name="Text 12"/>
          <p:cNvSpPr/>
          <p:nvPr/>
        </p:nvSpPr>
        <p:spPr>
          <a:xfrm>
            <a:off x="5120640" y="3246120"/>
            <a:ext cx="292608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Get a 5-min walkthrough calibrated to your actual goal</a:t>
            </a:r>
            <a:endParaRPr lang="en-US" sz="1000" dirty="0"/>
          </a:p>
        </p:txBody>
      </p:sp>
      <p:sp>
        <p:nvSpPr>
          <p:cNvPr id="16" name="Shape 13"/>
          <p:cNvSpPr/>
          <p:nvPr/>
        </p:nvSpPr>
        <p:spPr>
          <a:xfrm>
            <a:off x="1097280" y="3657600"/>
            <a:ext cx="3108960" cy="777240"/>
          </a:xfrm>
          <a:prstGeom prst="roundRect">
            <a:avLst>
              <a:gd name="adj" fmla="val 9412"/>
            </a:avLst>
          </a:prstGeom>
          <a:solidFill>
            <a:srgbClr val="E5F8FA"/>
          </a:solidFill>
          <a:ln/>
        </p:spPr>
      </p:sp>
      <p:sp>
        <p:nvSpPr>
          <p:cNvPr id="17" name="Text 14"/>
          <p:cNvSpPr/>
          <p:nvPr/>
        </p:nvSpPr>
        <p:spPr>
          <a:xfrm>
            <a:off x="1188720" y="3767328"/>
            <a:ext cx="292608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Need to add caching — where?</a:t>
            </a:r>
            <a:endParaRPr lang="en-US" sz="1100" dirty="0"/>
          </a:p>
        </p:txBody>
      </p:sp>
      <p:sp>
        <p:nvSpPr>
          <p:cNvPr id="18" name="Text 15"/>
          <p:cNvSpPr/>
          <p:nvPr/>
        </p:nvSpPr>
        <p:spPr>
          <a:xfrm>
            <a:off x="1188720" y="4114800"/>
            <a:ext cx="292608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Post in Slack, wait, schedule a 30-min meeting, leave still not sure</a:t>
            </a:r>
            <a:endParaRPr lang="en-US" sz="1000" dirty="0"/>
          </a:p>
        </p:txBody>
      </p:sp>
      <p:sp>
        <p:nvSpPr>
          <p:cNvPr id="19" name="Shape 16"/>
          <p:cNvSpPr/>
          <p:nvPr/>
        </p:nvSpPr>
        <p:spPr>
          <a:xfrm>
            <a:off x="5029200" y="3657600"/>
            <a:ext cx="3108960" cy="777240"/>
          </a:xfrm>
          <a:prstGeom prst="roundRect">
            <a:avLst>
              <a:gd name="adj" fmla="val 9412"/>
            </a:avLst>
          </a:prstGeom>
          <a:solidFill>
            <a:srgbClr val="E5F8FA"/>
          </a:solidFill>
          <a:ln/>
        </p:spPr>
      </p:sp>
      <p:sp>
        <p:nvSpPr>
          <p:cNvPr id="20" name="Text 17"/>
          <p:cNvSpPr/>
          <p:nvPr/>
        </p:nvSpPr>
        <p:spPr>
          <a:xfrm>
            <a:off x="5120640" y="3767328"/>
            <a:ext cx="292608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5-min back-and-forth</a:t>
            </a:r>
            <a:endParaRPr lang="en-US" sz="1100" dirty="0"/>
          </a:p>
        </p:txBody>
      </p:sp>
      <p:sp>
        <p:nvSpPr>
          <p:cNvPr id="21" name="Text 18"/>
          <p:cNvSpPr/>
          <p:nvPr/>
        </p:nvSpPr>
        <p:spPr>
          <a:xfrm>
            <a:off x="5120640" y="4114800"/>
            <a:ext cx="292608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Push back on the first suggestion, land on a decision you trust</a:t>
            </a:r>
            <a:endParaRPr lang="en-US" sz="1000" dirty="0"/>
          </a:p>
        </p:txBody>
      </p:sp>
      <p:sp>
        <p:nvSpPr>
          <p:cNvPr id="22" name="Text 19"/>
          <p:cNvSpPr/>
          <p:nvPr/>
        </p:nvSpPr>
        <p:spPr>
          <a:xfrm>
            <a:off x="548640" y="365760"/>
            <a:ext cx="7635240" cy="457200"/>
          </a:xfrm>
          <a:prstGeom prst="rect">
            <a:avLst/>
          </a:prstGeom>
          <a:noFill/>
          <a:ln/>
        </p:spPr>
        <p:txBody>
          <a:bodyPr wrap="square" rtlCol="0" anchor="t">
            <a:normAutofit/>
          </a:bodyPr>
          <a:lstStyle/>
          <a:p>
            <a:pPr indent="0" marL="0">
              <a:buNone/>
            </a:pPr>
            <a:r>
              <a:rPr lang="en-US" sz="2400" b="1" dirty="0">
                <a:solidFill>
                  <a:srgbClr val="2DA1BA"/>
                </a:solidFill>
                <a:latin typeface="Inter" pitchFamily="34" charset="0"/>
                <a:ea typeface="Inter" pitchFamily="34" charset="-122"/>
                <a:cs typeface="Inter" pitchFamily="34" charset="-120"/>
              </a:rPr>
              <a:t>Think With Claude First</a:t>
            </a:r>
            <a:endParaRPr lang="en-US" sz="2400" dirty="0"/>
          </a:p>
        </p:txBody>
      </p:sp>
      <p:sp>
        <p:nvSpPr>
          <p:cNvPr id="23" name="Text 20"/>
          <p:cNvSpPr/>
          <p:nvPr/>
        </p:nvSpPr>
        <p:spPr>
          <a:xfrm>
            <a:off x="548640" y="914400"/>
            <a:ext cx="7635240" cy="548640"/>
          </a:xfrm>
          <a:prstGeom prst="rect">
            <a:avLst/>
          </a:prstGeom>
          <a:noFill/>
          <a:ln/>
        </p:spPr>
        <p:txBody>
          <a:bodyPr wrap="square" rtlCol="0" anchor="t"/>
          <a:lstStyle/>
          <a:p>
            <a:pPr indent="0" marL="0">
              <a:buNone/>
            </a:pPr>
            <a:r>
              <a:rPr lang="en-US" sz="1400" i="1" dirty="0">
                <a:solidFill>
                  <a:srgbClr val="555555"/>
                </a:solidFill>
                <a:latin typeface="Inter" pitchFamily="34" charset="0"/>
                <a:ea typeface="Inter" pitchFamily="34" charset="-122"/>
                <a:cs typeface="Inter" pitchFamily="34" charset="-120"/>
              </a:rPr>
              <a:t>"You have a task. You don't know the codebase. You don't know the CLI. You don't know the API."</a:t>
            </a:r>
            <a:endParaRPr lang="en-US" sz="1400" dirty="0"/>
          </a:p>
        </p:txBody>
      </p:sp>
      <p:sp>
        <p:nvSpPr>
          <p:cNvPr id="24" name="Text 21"/>
          <p:cNvSpPr/>
          <p:nvPr/>
        </p:nvSpPr>
        <p:spPr>
          <a:xfrm>
            <a:off x="1097280" y="1554480"/>
            <a:ext cx="3200400" cy="274320"/>
          </a:xfrm>
          <a:prstGeom prst="rect">
            <a:avLst/>
          </a:prstGeom>
          <a:noFill/>
          <a:ln/>
        </p:spPr>
        <p:txBody>
          <a:bodyPr wrap="square" rtlCol="0" anchor="t"/>
          <a:lstStyle/>
          <a:p>
            <a:pPr indent="0" marL="0">
              <a:buNone/>
            </a:pPr>
            <a:r>
              <a:rPr lang="en-US" sz="1100" b="1" dirty="0">
                <a:solidFill>
                  <a:srgbClr val="2DA1BA"/>
                </a:solidFill>
                <a:latin typeface="Inter" pitchFamily="34" charset="0"/>
                <a:ea typeface="Inter" pitchFamily="34" charset="-122"/>
                <a:cs typeface="Inter" pitchFamily="34" charset="-120"/>
              </a:rPr>
              <a:t>WITHOUT CLAUDE</a:t>
            </a:r>
            <a:endParaRPr lang="en-US" sz="1100" dirty="0"/>
          </a:p>
        </p:txBody>
      </p:sp>
      <p:sp>
        <p:nvSpPr>
          <p:cNvPr id="25" name="Text 22"/>
          <p:cNvSpPr/>
          <p:nvPr/>
        </p:nvSpPr>
        <p:spPr>
          <a:xfrm>
            <a:off x="5029200" y="1554480"/>
            <a:ext cx="3200400" cy="274320"/>
          </a:xfrm>
          <a:prstGeom prst="rect">
            <a:avLst/>
          </a:prstGeom>
          <a:noFill/>
          <a:ln/>
        </p:spPr>
        <p:txBody>
          <a:bodyPr wrap="square" rtlCol="0" anchor="t"/>
          <a:lstStyle/>
          <a:p>
            <a:pPr indent="0" marL="0">
              <a:buNone/>
            </a:pPr>
            <a:r>
              <a:rPr lang="en-US" sz="1100" b="1" dirty="0">
                <a:solidFill>
                  <a:srgbClr val="2DA1BA"/>
                </a:solidFill>
                <a:latin typeface="Inter" pitchFamily="34" charset="0"/>
                <a:ea typeface="Inter" pitchFamily="34" charset="-122"/>
                <a:cs typeface="Inter" pitchFamily="34" charset="-120"/>
              </a:rPr>
              <a:t>WITH CLAUDE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pic>
        <p:nvPicPr>
          <p:cNvPr id="3" name="Image 0" descr="/home/fanderman/projects/luigis-box/presentations/assets/icon-color.png">    </p:cNvPr>
          <p:cNvPicPr>
            <a:picLocks noChangeAspect="1"/>
          </p:cNvPicPr>
          <p:nvPr/>
        </p:nvPicPr>
        <p:blipFill>
          <a:blip r:embed="rId1"/>
          <a:stretch>
            <a:fillRect/>
          </a:stretch>
        </p:blipFill>
        <p:spPr>
          <a:xfrm>
            <a:off x="8257032" y="566928"/>
            <a:ext cx="292608" cy="292608"/>
          </a:xfrm>
          <a:prstGeom prst="rect">
            <a:avLst/>
          </a:prstGeom>
        </p:spPr>
      </p:pic>
      <p:sp>
        <p:nvSpPr>
          <p:cNvPr id="4" name="Text 1"/>
          <p:cNvSpPr/>
          <p:nvPr/>
        </p:nvSpPr>
        <p:spPr>
          <a:xfrm>
            <a:off x="548640" y="365760"/>
            <a:ext cx="7635240" cy="457200"/>
          </a:xfrm>
          <a:prstGeom prst="rect">
            <a:avLst/>
          </a:prstGeom>
          <a:noFill/>
          <a:ln/>
        </p:spPr>
        <p:txBody>
          <a:bodyPr wrap="square" rtlCol="0" anchor="t">
            <a:normAutofit/>
          </a:bodyPr>
          <a:lstStyle/>
          <a:p>
            <a:pPr indent="0" marL="0">
              <a:buNone/>
            </a:pPr>
            <a:r>
              <a:rPr lang="en-US" sz="2400" b="1" dirty="0">
                <a:solidFill>
                  <a:srgbClr val="2DA1BA"/>
                </a:solidFill>
                <a:latin typeface="Inter" pitchFamily="34" charset="0"/>
                <a:ea typeface="Inter" pitchFamily="34" charset="-122"/>
                <a:cs typeface="Inter" pitchFamily="34" charset="-120"/>
              </a:rPr>
              <a:t>From Quick Wins to Deep Work</a:t>
            </a:r>
            <a:endParaRPr lang="en-US" sz="2400" dirty="0"/>
          </a:p>
        </p:txBody>
      </p:sp>
      <p:sp>
        <p:nvSpPr>
          <p:cNvPr id="5" name="Shape 2"/>
          <p:cNvSpPr/>
          <p:nvPr/>
        </p:nvSpPr>
        <p:spPr>
          <a:xfrm>
            <a:off x="576072" y="960120"/>
            <a:ext cx="7991856" cy="987552"/>
          </a:xfrm>
          <a:prstGeom prst="roundRect">
            <a:avLst>
              <a:gd name="adj" fmla="val 7407"/>
            </a:avLst>
          </a:prstGeom>
          <a:solidFill>
            <a:srgbClr val="E5F8FA"/>
          </a:solidFill>
          <a:ln/>
        </p:spPr>
      </p:sp>
      <p:sp>
        <p:nvSpPr>
          <p:cNvPr id="6" name="Text 3"/>
          <p:cNvSpPr/>
          <p:nvPr/>
        </p:nvSpPr>
        <p:spPr>
          <a:xfrm>
            <a:off x="667512" y="1069848"/>
            <a:ext cx="7808976" cy="274320"/>
          </a:xfrm>
          <a:prstGeom prst="rect">
            <a:avLst/>
          </a:prstGeom>
          <a:noFill/>
          <a:ln/>
        </p:spPr>
        <p:txBody>
          <a:bodyPr wrap="square" rtlCol="0" anchor="t">
            <a:normAutofit/>
          </a:bodyPr>
          <a:lstStyle/>
          <a:p>
            <a:pPr indent="0" marL="0">
              <a:buNone/>
            </a:pPr>
            <a:r>
              <a:rPr lang="en-US" sz="1200" b="1" dirty="0">
                <a:solidFill>
                  <a:srgbClr val="0D0D0F"/>
                </a:solidFill>
                <a:latin typeface="Inter" pitchFamily="34" charset="0"/>
                <a:ea typeface="Inter" pitchFamily="34" charset="-122"/>
                <a:cs typeface="Inter" pitchFamily="34" charset="-120"/>
              </a:rPr>
              <a:t>Level 1 — Quick questions (minutes)</a:t>
            </a:r>
            <a:endParaRPr lang="en-US" sz="1200" dirty="0"/>
          </a:p>
        </p:txBody>
      </p:sp>
      <p:sp>
        <p:nvSpPr>
          <p:cNvPr id="7" name="Text 4"/>
          <p:cNvSpPr/>
          <p:nvPr/>
        </p:nvSpPr>
        <p:spPr>
          <a:xfrm>
            <a:off x="667512" y="1417320"/>
            <a:ext cx="7808976" cy="256032"/>
          </a:xfrm>
          <a:prstGeom prst="rect">
            <a:avLst/>
          </a:prstGeom>
          <a:noFill/>
          <a:ln/>
        </p:spPr>
        <p:txBody>
          <a:bodyPr wrap="square" rtlCol="0" anchor="t">
            <a:normAutofit/>
          </a:bodyPr>
          <a:lstStyle/>
          <a:p>
            <a:pPr indent="0" marL="0">
              <a:buNone/>
            </a:pPr>
            <a:r>
              <a:rPr lang="en-US" sz="1100" dirty="0">
                <a:solidFill>
                  <a:srgbClr val="0D0D0F"/>
                </a:solidFill>
                <a:latin typeface="Inter" pitchFamily="34" charset="0"/>
                <a:ea typeface="Inter" pitchFamily="34" charset="-122"/>
                <a:cs typeface="Inter" pitchFamily="34" charset="-120"/>
              </a:rPr>
              <a:t>"How does this function get called?" / "What flag disables retries in this SDK?"</a:t>
            </a:r>
            <a:endParaRPr lang="en-US" sz="1100" dirty="0"/>
          </a:p>
        </p:txBody>
      </p:sp>
      <p:sp>
        <p:nvSpPr>
          <p:cNvPr id="8" name="Shape 5"/>
          <p:cNvSpPr/>
          <p:nvPr/>
        </p:nvSpPr>
        <p:spPr>
          <a:xfrm>
            <a:off x="576072" y="2057400"/>
            <a:ext cx="7991856" cy="987552"/>
          </a:xfrm>
          <a:prstGeom prst="roundRect">
            <a:avLst>
              <a:gd name="adj" fmla="val 7407"/>
            </a:avLst>
          </a:prstGeom>
          <a:solidFill>
            <a:srgbClr val="E5F8FA"/>
          </a:solidFill>
          <a:ln/>
        </p:spPr>
      </p:sp>
      <p:sp>
        <p:nvSpPr>
          <p:cNvPr id="9" name="Text 6"/>
          <p:cNvSpPr/>
          <p:nvPr/>
        </p:nvSpPr>
        <p:spPr>
          <a:xfrm>
            <a:off x="667512" y="2167128"/>
            <a:ext cx="7808976" cy="274320"/>
          </a:xfrm>
          <a:prstGeom prst="rect">
            <a:avLst/>
          </a:prstGeom>
          <a:noFill/>
          <a:ln/>
        </p:spPr>
        <p:txBody>
          <a:bodyPr wrap="square" rtlCol="0" anchor="t">
            <a:normAutofit/>
          </a:bodyPr>
          <a:lstStyle/>
          <a:p>
            <a:pPr indent="0" marL="0">
              <a:buNone/>
            </a:pPr>
            <a:r>
              <a:rPr lang="en-US" sz="1200" b="1" dirty="0">
                <a:solidFill>
                  <a:srgbClr val="0D0D0F"/>
                </a:solidFill>
                <a:latin typeface="Inter" pitchFamily="34" charset="0"/>
                <a:ea typeface="Inter" pitchFamily="34" charset="-122"/>
                <a:cs typeface="Inter" pitchFamily="34" charset="-120"/>
              </a:rPr>
              <a:t>Level 2 — Structured exploration (30 min)</a:t>
            </a:r>
            <a:endParaRPr lang="en-US" sz="1200" dirty="0"/>
          </a:p>
        </p:txBody>
      </p:sp>
      <p:sp>
        <p:nvSpPr>
          <p:cNvPr id="10" name="Text 7"/>
          <p:cNvSpPr/>
          <p:nvPr/>
        </p:nvSpPr>
        <p:spPr>
          <a:xfrm>
            <a:off x="667512" y="2514600"/>
            <a:ext cx="7808976" cy="256032"/>
          </a:xfrm>
          <a:prstGeom prst="rect">
            <a:avLst/>
          </a:prstGeom>
          <a:noFill/>
          <a:ln/>
        </p:spPr>
        <p:txBody>
          <a:bodyPr wrap="square" rtlCol="0" anchor="t">
            <a:normAutofit/>
          </a:bodyPr>
          <a:lstStyle/>
          <a:p>
            <a:pPr indent="0" marL="0">
              <a:buNone/>
            </a:pPr>
            <a:r>
              <a:rPr lang="en-US" sz="1100" dirty="0">
                <a:solidFill>
                  <a:srgbClr val="0D0D0F"/>
                </a:solidFill>
                <a:latin typeface="Inter" pitchFamily="34" charset="0"/>
                <a:ea typeface="Inter" pitchFamily="34" charset="-122"/>
                <a:cs typeface="Inter" pitchFamily="34" charset="-120"/>
              </a:rPr>
              <a:t>Describe the situation, think through the approach with Claude, push back on its first suggestion, arrive at a plan you trust — before writing a single line.</a:t>
            </a:r>
            <a:endParaRPr lang="en-US" sz="1100" dirty="0"/>
          </a:p>
        </p:txBody>
      </p:sp>
      <p:sp>
        <p:nvSpPr>
          <p:cNvPr id="11" name="Shape 8"/>
          <p:cNvSpPr/>
          <p:nvPr/>
        </p:nvSpPr>
        <p:spPr>
          <a:xfrm>
            <a:off x="576072" y="3154680"/>
            <a:ext cx="7991856" cy="987552"/>
          </a:xfrm>
          <a:prstGeom prst="roundRect">
            <a:avLst>
              <a:gd name="adj" fmla="val 7407"/>
            </a:avLst>
          </a:prstGeom>
          <a:solidFill>
            <a:srgbClr val="E5F8FA"/>
          </a:solidFill>
          <a:ln/>
        </p:spPr>
      </p:sp>
      <p:sp>
        <p:nvSpPr>
          <p:cNvPr id="12" name="Text 9"/>
          <p:cNvSpPr/>
          <p:nvPr/>
        </p:nvSpPr>
        <p:spPr>
          <a:xfrm>
            <a:off x="667512" y="3264408"/>
            <a:ext cx="7808976" cy="274320"/>
          </a:xfrm>
          <a:prstGeom prst="rect">
            <a:avLst/>
          </a:prstGeom>
          <a:noFill/>
          <a:ln/>
        </p:spPr>
        <p:txBody>
          <a:bodyPr wrap="square" rtlCol="0" anchor="t">
            <a:normAutofit/>
          </a:bodyPr>
          <a:lstStyle/>
          <a:p>
            <a:pPr indent="0" marL="0">
              <a:buNone/>
            </a:pPr>
            <a:r>
              <a:rPr lang="en-US" sz="1200" b="1" dirty="0">
                <a:solidFill>
                  <a:srgbClr val="0D0D0F"/>
                </a:solidFill>
                <a:latin typeface="Inter" pitchFamily="34" charset="0"/>
                <a:ea typeface="Inter" pitchFamily="34" charset="-122"/>
                <a:cs typeface="Inter" pitchFamily="34" charset="-120"/>
              </a:rPr>
              <a:t>Level 3 — Collaborative building (hours)</a:t>
            </a:r>
            <a:endParaRPr lang="en-US" sz="1200" dirty="0"/>
          </a:p>
        </p:txBody>
      </p:sp>
      <p:sp>
        <p:nvSpPr>
          <p:cNvPr id="13" name="Text 10"/>
          <p:cNvSpPr/>
          <p:nvPr/>
        </p:nvSpPr>
        <p:spPr>
          <a:xfrm>
            <a:off x="667512" y="3611880"/>
            <a:ext cx="7808976" cy="256032"/>
          </a:xfrm>
          <a:prstGeom prst="rect">
            <a:avLst/>
          </a:prstGeom>
          <a:noFill/>
          <a:ln/>
        </p:spPr>
        <p:txBody>
          <a:bodyPr wrap="square" rtlCol="0" anchor="t">
            <a:normAutofit/>
          </a:bodyPr>
          <a:lstStyle/>
          <a:p>
            <a:pPr indent="0" marL="0">
              <a:buNone/>
            </a:pPr>
            <a:r>
              <a:rPr lang="en-US" sz="1100" dirty="0">
                <a:solidFill>
                  <a:srgbClr val="0D0D0F"/>
                </a:solidFill>
                <a:latin typeface="Inter" pitchFamily="34" charset="0"/>
                <a:ea typeface="Inter" pitchFamily="34" charset="-122"/>
                <a:cs typeface="Inter" pitchFamily="34" charset="-120"/>
              </a:rPr>
              <a:t>"I have no idea how to use this CLI." Claude asks what you're trying to accomplish and adjusts to your level — not the assumed level of the docs.</a:t>
            </a:r>
            <a:endParaRPr lang="en-US" sz="1100" dirty="0"/>
          </a:p>
        </p:txBody>
      </p:sp>
      <p:sp>
        <p:nvSpPr>
          <p:cNvPr id="14" name="Text 11"/>
          <p:cNvSpPr/>
          <p:nvPr/>
        </p:nvSpPr>
        <p:spPr>
          <a:xfrm>
            <a:off x="548640" y="4251960"/>
            <a:ext cx="8046720" cy="365760"/>
          </a:xfrm>
          <a:prstGeom prst="rect">
            <a:avLst/>
          </a:prstGeom>
          <a:noFill/>
          <a:ln/>
        </p:spPr>
        <p:txBody>
          <a:bodyPr wrap="square" rtlCol="0" anchor="t"/>
          <a:lstStyle/>
          <a:p>
            <a:pPr indent="0" marL="0">
              <a:buNone/>
            </a:pPr>
            <a:r>
              <a:rPr lang="en-US" sz="1200" i="1" dirty="0">
                <a:solidFill>
                  <a:srgbClr val="2DA1BA"/>
                </a:solidFill>
                <a:latin typeface="Inter" pitchFamily="34" charset="0"/>
                <a:ea typeface="Inter" pitchFamily="34" charset="-122"/>
                <a:cs typeface="Inter" pitchFamily="34" charset="-120"/>
              </a:rPr>
              <a:t>"If you switch to 'think with Claude first,' you will achieve far more than you could before. Not because Claude is smarter than you — because it never gets tired of the question."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sp>
        <p:nvSpPr>
          <p:cNvPr id="3" name="Text 1"/>
          <p:cNvSpPr/>
          <p:nvPr/>
        </p:nvSpPr>
        <p:spPr>
          <a:xfrm>
            <a:off x="548640" y="365760"/>
            <a:ext cx="8046720" cy="457200"/>
          </a:xfrm>
          <a:prstGeom prst="rect">
            <a:avLst/>
          </a:prstGeom>
          <a:noFill/>
          <a:ln/>
        </p:spPr>
        <p:txBody>
          <a:bodyPr wrap="square" rtlCol="0" anchor="t">
            <a:normAutofit/>
          </a:bodyPr>
          <a:lstStyle/>
          <a:p>
            <a:pPr indent="0" marL="0">
              <a:buNone/>
            </a:pPr>
            <a:r>
              <a:rPr lang="en-US" sz="2400" b="1" dirty="0">
                <a:solidFill>
                  <a:srgbClr val="35C2D6"/>
                </a:solidFill>
                <a:latin typeface="Inter" pitchFamily="34" charset="0"/>
                <a:ea typeface="Inter" pitchFamily="34" charset="-122"/>
                <a:cs typeface="Inter" pitchFamily="34" charset="-120"/>
              </a:rPr>
              <a:t>Hallucination is the Wrong Word</a:t>
            </a:r>
            <a:endParaRPr lang="en-US" sz="2400" dirty="0"/>
          </a:p>
        </p:txBody>
      </p:sp>
      <p:sp>
        <p:nvSpPr>
          <p:cNvPr id="4" name="Text 2"/>
          <p:cNvSpPr/>
          <p:nvPr/>
        </p:nvSpPr>
        <p:spPr>
          <a:xfrm>
            <a:off x="548640" y="914400"/>
            <a:ext cx="8046720" cy="731520"/>
          </a:xfrm>
          <a:prstGeom prst="rect">
            <a:avLst/>
          </a:prstGeom>
          <a:noFill/>
          <a:ln/>
        </p:spPr>
        <p:txBody>
          <a:bodyPr wrap="square" rtlCol="0" anchor="t"/>
          <a:lstStyle/>
          <a:p>
            <a:pPr indent="0" marL="0">
              <a:buNone/>
            </a:pPr>
            <a:r>
              <a:rPr lang="en-US" sz="1300" dirty="0">
                <a:solidFill>
                  <a:srgbClr val="F4FBFC"/>
                </a:solidFill>
                <a:latin typeface="Inter" pitchFamily="34" charset="0"/>
                <a:ea typeface="Inter" pitchFamily="34" charset="-122"/>
                <a:cs typeface="Inter" pitchFamily="34" charset="-120"/>
              </a:rPr>
              <a:t>Hallucination — fabricating facts from nothing — is real, but rare in modern Claude. The problems you will actually hit today are subtler and harder to catch:</a:t>
            </a:r>
            <a:endParaRPr lang="en-US" sz="1300" dirty="0"/>
          </a:p>
        </p:txBody>
      </p:sp>
      <p:sp>
        <p:nvSpPr>
          <p:cNvPr id="5" name="Text 3"/>
          <p:cNvSpPr/>
          <p:nvPr/>
        </p:nvSpPr>
        <p:spPr>
          <a:xfrm>
            <a:off x="548640" y="1783080"/>
            <a:ext cx="8046720" cy="1554480"/>
          </a:xfrm>
          <a:prstGeom prst="rect">
            <a:avLst/>
          </a:prstGeom>
          <a:noFill/>
          <a:ln/>
        </p:spPr>
        <p:txBody>
          <a:bodyPr wrap="square" rtlCol="0" anchor="t"/>
          <a:lstStyle/>
          <a:p>
            <a:pPr marL="342900" indent="-342900">
              <a:buSzPct val="100000"/>
              <a:buChar char="●"/>
            </a:pPr>
            <a:r>
              <a:rPr lang="en-US" sz="1300" dirty="0">
                <a:solidFill>
                  <a:srgbClr val="F4FBFC"/>
                </a:solidFill>
                <a:latin typeface="Inter" pitchFamily="34" charset="0"/>
                <a:ea typeface="Inter" pitchFamily="34" charset="-122"/>
                <a:cs typeface="Inter" pitchFamily="34" charset="-120"/>
              </a:rPr>
              <a:t>Incomplete coverage — Claude delivers something, but not everything</a:t>
            </a:r>
            <a:endParaRPr lang="en-US" sz="1300" dirty="0"/>
          </a:p>
          <a:p>
            <a:pPr marL="342900" indent="-342900">
              <a:buSzPct val="100000"/>
              <a:buChar char="●"/>
            </a:pPr>
            <a:r>
              <a:rPr lang="en-US" sz="1300" dirty="0">
                <a:solidFill>
                  <a:srgbClr val="F4FBFC"/>
                </a:solidFill>
                <a:latin typeface="Inter" pitchFamily="34" charset="0"/>
                <a:ea typeface="Inter" pitchFamily="34" charset="-122"/>
                <a:cs typeface="Inter" pitchFamily="34" charset="-120"/>
              </a:rPr>
              <a:t>Silent drops — content disappears without warning</a:t>
            </a:r>
            <a:endParaRPr lang="en-US" sz="1300" dirty="0"/>
          </a:p>
          <a:p>
            <a:pPr marL="342900" indent="-342900">
              <a:buSzPct val="100000"/>
              <a:buChar char="●"/>
            </a:pPr>
            <a:r>
              <a:rPr lang="en-US" sz="1300" dirty="0">
                <a:solidFill>
                  <a:srgbClr val="F4FBFC"/>
                </a:solidFill>
                <a:latin typeface="Inter" pitchFamily="34" charset="0"/>
                <a:ea typeface="Inter" pitchFamily="34" charset="-122"/>
                <a:cs typeface="Inter" pitchFamily="34" charset="-120"/>
              </a:rPr>
              <a:t>Plausible-but-unverified claims — confident analysis on unverified premises</a:t>
            </a:r>
            <a:endParaRPr lang="en-US" sz="1300" dirty="0"/>
          </a:p>
        </p:txBody>
      </p:sp>
      <p:sp>
        <p:nvSpPr>
          <p:cNvPr id="6" name="Text 4"/>
          <p:cNvSpPr/>
          <p:nvPr/>
        </p:nvSpPr>
        <p:spPr>
          <a:xfrm>
            <a:off x="548640" y="3474720"/>
            <a:ext cx="8046720" cy="502920"/>
          </a:xfrm>
          <a:prstGeom prst="rect">
            <a:avLst/>
          </a:prstGeom>
          <a:noFill/>
          <a:ln/>
        </p:spPr>
        <p:txBody>
          <a:bodyPr wrap="square" rtlCol="0" anchor="t"/>
          <a:lstStyle/>
          <a:p>
            <a:pPr indent="0" marL="0">
              <a:buNone/>
            </a:pPr>
            <a:r>
              <a:rPr lang="en-US" sz="1400" b="1" dirty="0">
                <a:solidFill>
                  <a:srgbClr val="35C2D6"/>
                </a:solidFill>
                <a:latin typeface="Inter" pitchFamily="34" charset="0"/>
                <a:ea typeface="Inter" pitchFamily="34" charset="-122"/>
                <a:cs typeface="Inter" pitchFamily="34" charset="-120"/>
              </a:rPr>
              <a:t>These are not hallucinations. They are judgment gaps.</a:t>
            </a:r>
            <a:endParaRPr lang="en-US" sz="1400" dirty="0"/>
          </a:p>
        </p:txBody>
      </p:sp>
      <p:sp>
        <p:nvSpPr>
          <p:cNvPr id="7" name="Text 5"/>
          <p:cNvSpPr/>
          <p:nvPr/>
        </p:nvSpPr>
        <p:spPr>
          <a:xfrm>
            <a:off x="548640" y="4114800"/>
            <a:ext cx="8046720" cy="365760"/>
          </a:xfrm>
          <a:prstGeom prst="rect">
            <a:avLst/>
          </a:prstGeom>
          <a:noFill/>
          <a:ln/>
        </p:spPr>
        <p:txBody>
          <a:bodyPr wrap="square" rtlCol="0" anchor="t"/>
          <a:lstStyle/>
          <a:p>
            <a:pPr indent="0" marL="0">
              <a:buNone/>
            </a:pPr>
            <a:r>
              <a:rPr lang="en-US" sz="1200" i="1" dirty="0">
                <a:solidFill>
                  <a:srgbClr val="8899AA"/>
                </a:solidFill>
                <a:latin typeface="Inter" pitchFamily="34" charset="0"/>
                <a:ea typeface="Inter" pitchFamily="34" charset="-122"/>
                <a:cs typeface="Inter" pitchFamily="34" charset="-120"/>
              </a:rPr>
              <a:t>"The problems you will actually hit today are subtler and harder to catch."</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pic>
        <p:nvPicPr>
          <p:cNvPr id="3" name="Image 0" descr="/home/fanderman/projects/luigis-box/presentations/assets/icon-color.png">    </p:cNvPr>
          <p:cNvPicPr>
            <a:picLocks noChangeAspect="1"/>
          </p:cNvPicPr>
          <p:nvPr/>
        </p:nvPicPr>
        <p:blipFill>
          <a:blip r:embed="rId1"/>
          <a:stretch>
            <a:fillRect/>
          </a:stretch>
        </p:blipFill>
        <p:spPr>
          <a:xfrm>
            <a:off x="8257032" y="566928"/>
            <a:ext cx="292608" cy="292608"/>
          </a:xfrm>
          <a:prstGeom prst="rect">
            <a:avLst/>
          </a:prstGeom>
        </p:spPr>
      </p:pic>
      <p:sp>
        <p:nvSpPr>
          <p:cNvPr id="4" name="Shape 1"/>
          <p:cNvSpPr/>
          <p:nvPr/>
        </p:nvSpPr>
        <p:spPr>
          <a:xfrm>
            <a:off x="548640" y="2240280"/>
            <a:ext cx="3657600" cy="713232"/>
          </a:xfrm>
          <a:prstGeom prst="roundRect">
            <a:avLst>
              <a:gd name="adj" fmla="val 10256"/>
            </a:avLst>
          </a:prstGeom>
          <a:solidFill>
            <a:srgbClr val="E5F8FA"/>
          </a:solidFill>
          <a:ln/>
        </p:spPr>
      </p:sp>
      <p:sp>
        <p:nvSpPr>
          <p:cNvPr id="5" name="Text 2"/>
          <p:cNvSpPr/>
          <p:nvPr/>
        </p:nvSpPr>
        <p:spPr>
          <a:xfrm>
            <a:off x="640080" y="2350008"/>
            <a:ext cx="347472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Code compiles</a:t>
            </a:r>
            <a:endParaRPr lang="en-US" sz="1100" dirty="0"/>
          </a:p>
        </p:txBody>
      </p:sp>
      <p:sp>
        <p:nvSpPr>
          <p:cNvPr id="6" name="Text 3"/>
          <p:cNvSpPr/>
          <p:nvPr/>
        </p:nvSpPr>
        <p:spPr>
          <a:xfrm>
            <a:off x="640080" y="2697480"/>
            <a:ext cx="347472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Spec items the implementer quietly skipped</a:t>
            </a:r>
            <a:endParaRPr lang="en-US" sz="1000" dirty="0"/>
          </a:p>
        </p:txBody>
      </p:sp>
      <p:sp>
        <p:nvSpPr>
          <p:cNvPr id="7" name="Shape 4"/>
          <p:cNvSpPr/>
          <p:nvPr/>
        </p:nvSpPr>
        <p:spPr>
          <a:xfrm>
            <a:off x="4663440" y="2240280"/>
            <a:ext cx="3931920" cy="713232"/>
          </a:xfrm>
          <a:prstGeom prst="roundRect">
            <a:avLst>
              <a:gd name="adj" fmla="val 10256"/>
            </a:avLst>
          </a:prstGeom>
          <a:solidFill>
            <a:srgbClr val="E5F8FA"/>
          </a:solidFill>
          <a:ln/>
        </p:spPr>
      </p:sp>
      <p:sp>
        <p:nvSpPr>
          <p:cNvPr id="8" name="Text 5"/>
          <p:cNvSpPr/>
          <p:nvPr/>
        </p:nvSpPr>
        <p:spPr>
          <a:xfrm>
            <a:off x="4754880" y="2350008"/>
            <a:ext cx="374904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(see →)</a:t>
            </a:r>
            <a:endParaRPr lang="en-US" sz="1100" dirty="0"/>
          </a:p>
        </p:txBody>
      </p:sp>
      <p:sp>
        <p:nvSpPr>
          <p:cNvPr id="9" name="Text 6"/>
          <p:cNvSpPr/>
          <p:nvPr/>
        </p:nvSpPr>
        <p:spPr>
          <a:xfrm>
            <a:off x="4754880" y="2697480"/>
            <a:ext cx="374904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Spec items the implementer quietly skipped</a:t>
            </a:r>
            <a:endParaRPr lang="en-US" sz="1000" dirty="0"/>
          </a:p>
        </p:txBody>
      </p:sp>
      <p:sp>
        <p:nvSpPr>
          <p:cNvPr id="10" name="Shape 7"/>
          <p:cNvSpPr/>
          <p:nvPr/>
        </p:nvSpPr>
        <p:spPr>
          <a:xfrm>
            <a:off x="548640" y="2971800"/>
            <a:ext cx="3657600" cy="713232"/>
          </a:xfrm>
          <a:prstGeom prst="roundRect">
            <a:avLst>
              <a:gd name="adj" fmla="val 10256"/>
            </a:avLst>
          </a:prstGeom>
          <a:solidFill>
            <a:srgbClr val="E5F8FA"/>
          </a:solidFill>
          <a:ln/>
        </p:spPr>
      </p:sp>
      <p:sp>
        <p:nvSpPr>
          <p:cNvPr id="11" name="Text 8"/>
          <p:cNvSpPr/>
          <p:nvPr/>
        </p:nvSpPr>
        <p:spPr>
          <a:xfrm>
            <a:off x="640080" y="3081528"/>
            <a:ext cx="347472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Tests pass</a:t>
            </a:r>
            <a:endParaRPr lang="en-US" sz="1100" dirty="0"/>
          </a:p>
        </p:txBody>
      </p:sp>
      <p:sp>
        <p:nvSpPr>
          <p:cNvPr id="12" name="Text 9"/>
          <p:cNvSpPr/>
          <p:nvPr/>
        </p:nvSpPr>
        <p:spPr>
          <a:xfrm>
            <a:off x="640080" y="3429000"/>
            <a:ext cx="347472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Behavioral constraints silently dropped</a:t>
            </a:r>
            <a:endParaRPr lang="en-US" sz="1000" dirty="0"/>
          </a:p>
        </p:txBody>
      </p:sp>
      <p:sp>
        <p:nvSpPr>
          <p:cNvPr id="13" name="Shape 10"/>
          <p:cNvSpPr/>
          <p:nvPr/>
        </p:nvSpPr>
        <p:spPr>
          <a:xfrm>
            <a:off x="4663440" y="2971800"/>
            <a:ext cx="3931920" cy="713232"/>
          </a:xfrm>
          <a:prstGeom prst="roundRect">
            <a:avLst>
              <a:gd name="adj" fmla="val 10256"/>
            </a:avLst>
          </a:prstGeom>
          <a:solidFill>
            <a:srgbClr val="E5F8FA"/>
          </a:solidFill>
          <a:ln/>
        </p:spPr>
      </p:sp>
      <p:sp>
        <p:nvSpPr>
          <p:cNvPr id="14" name="Text 11"/>
          <p:cNvSpPr/>
          <p:nvPr/>
        </p:nvSpPr>
        <p:spPr>
          <a:xfrm>
            <a:off x="4754880" y="3081528"/>
            <a:ext cx="374904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(see →)</a:t>
            </a:r>
            <a:endParaRPr lang="en-US" sz="1100" dirty="0"/>
          </a:p>
        </p:txBody>
      </p:sp>
      <p:sp>
        <p:nvSpPr>
          <p:cNvPr id="15" name="Text 12"/>
          <p:cNvSpPr/>
          <p:nvPr/>
        </p:nvSpPr>
        <p:spPr>
          <a:xfrm>
            <a:off x="4754880" y="3429000"/>
            <a:ext cx="374904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Behavioral constraints silently dropped</a:t>
            </a:r>
            <a:endParaRPr lang="en-US" sz="1000" dirty="0"/>
          </a:p>
        </p:txBody>
      </p:sp>
      <p:sp>
        <p:nvSpPr>
          <p:cNvPr id="16" name="Shape 13"/>
          <p:cNvSpPr/>
          <p:nvPr/>
        </p:nvSpPr>
        <p:spPr>
          <a:xfrm>
            <a:off x="548640" y="3703320"/>
            <a:ext cx="3657600" cy="713232"/>
          </a:xfrm>
          <a:prstGeom prst="roundRect">
            <a:avLst>
              <a:gd name="adj" fmla="val 10256"/>
            </a:avLst>
          </a:prstGeom>
          <a:solidFill>
            <a:srgbClr val="E5F8FA"/>
          </a:solidFill>
          <a:ln/>
        </p:spPr>
      </p:sp>
      <p:sp>
        <p:nvSpPr>
          <p:cNvPr id="17" name="Text 14"/>
          <p:cNvSpPr/>
          <p:nvPr/>
        </p:nvSpPr>
        <p:spPr>
          <a:xfrm>
            <a:off x="640080" y="3813048"/>
            <a:ext cx="347472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Reviewer approved</a:t>
            </a:r>
            <a:endParaRPr lang="en-US" sz="1100" dirty="0"/>
          </a:p>
        </p:txBody>
      </p:sp>
      <p:sp>
        <p:nvSpPr>
          <p:cNvPr id="18" name="Text 15"/>
          <p:cNvSpPr/>
          <p:nvPr/>
        </p:nvSpPr>
        <p:spPr>
          <a:xfrm>
            <a:off x="640080" y="4160520"/>
            <a:ext cx="347472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Dead code that was never wired to an entry point</a:t>
            </a:r>
            <a:endParaRPr lang="en-US" sz="1000" dirty="0"/>
          </a:p>
        </p:txBody>
      </p:sp>
      <p:sp>
        <p:nvSpPr>
          <p:cNvPr id="19" name="Shape 16"/>
          <p:cNvSpPr/>
          <p:nvPr/>
        </p:nvSpPr>
        <p:spPr>
          <a:xfrm>
            <a:off x="4663440" y="3703320"/>
            <a:ext cx="3931920" cy="713232"/>
          </a:xfrm>
          <a:prstGeom prst="roundRect">
            <a:avLst>
              <a:gd name="adj" fmla="val 10256"/>
            </a:avLst>
          </a:prstGeom>
          <a:solidFill>
            <a:srgbClr val="E5F8FA"/>
          </a:solidFill>
          <a:ln/>
        </p:spPr>
      </p:sp>
      <p:sp>
        <p:nvSpPr>
          <p:cNvPr id="20" name="Text 17"/>
          <p:cNvSpPr/>
          <p:nvPr/>
        </p:nvSpPr>
        <p:spPr>
          <a:xfrm>
            <a:off x="4754880" y="3813048"/>
            <a:ext cx="374904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(see →)</a:t>
            </a:r>
            <a:endParaRPr lang="en-US" sz="1100" dirty="0"/>
          </a:p>
        </p:txBody>
      </p:sp>
      <p:sp>
        <p:nvSpPr>
          <p:cNvPr id="21" name="Text 18"/>
          <p:cNvSpPr/>
          <p:nvPr/>
        </p:nvSpPr>
        <p:spPr>
          <a:xfrm>
            <a:off x="4754880" y="4160520"/>
            <a:ext cx="374904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Dead code that was never wired to an entry point</a:t>
            </a:r>
            <a:endParaRPr lang="en-US" sz="1000" dirty="0"/>
          </a:p>
        </p:txBody>
      </p:sp>
      <p:sp>
        <p:nvSpPr>
          <p:cNvPr id="22" name="Text 19"/>
          <p:cNvSpPr/>
          <p:nvPr/>
        </p:nvSpPr>
        <p:spPr>
          <a:xfrm>
            <a:off x="548640" y="365760"/>
            <a:ext cx="7635240" cy="457200"/>
          </a:xfrm>
          <a:prstGeom prst="rect">
            <a:avLst/>
          </a:prstGeom>
          <a:noFill/>
          <a:ln/>
        </p:spPr>
        <p:txBody>
          <a:bodyPr wrap="square" rtlCol="0" anchor="t">
            <a:normAutofit/>
          </a:bodyPr>
          <a:lstStyle/>
          <a:p>
            <a:pPr indent="0" marL="0">
              <a:buNone/>
            </a:pPr>
            <a:r>
              <a:rPr lang="en-US" sz="2400" b="1" dirty="0">
                <a:solidFill>
                  <a:srgbClr val="2DA1BA"/>
                </a:solidFill>
                <a:latin typeface="Inter" pitchFamily="34" charset="0"/>
                <a:ea typeface="Inter" pitchFamily="34" charset="-122"/>
                <a:cs typeface="Inter" pitchFamily="34" charset="-120"/>
              </a:rPr>
              <a:t>MVP Syndrome — What It Is</a:t>
            </a:r>
            <a:endParaRPr lang="en-US" sz="2400" dirty="0"/>
          </a:p>
        </p:txBody>
      </p:sp>
      <p:sp>
        <p:nvSpPr>
          <p:cNvPr id="23" name="Text 20"/>
          <p:cNvSpPr/>
          <p:nvPr/>
        </p:nvSpPr>
        <p:spPr>
          <a:xfrm>
            <a:off x="548640" y="868680"/>
            <a:ext cx="8046720" cy="914400"/>
          </a:xfrm>
          <a:prstGeom prst="rect">
            <a:avLst/>
          </a:prstGeom>
          <a:noFill/>
          <a:ln/>
        </p:spPr>
        <p:txBody>
          <a:bodyPr wrap="square" rtlCol="0" anchor="t"/>
          <a:lstStyle/>
          <a:p>
            <a:pPr indent="0" marL="0">
              <a:buNone/>
            </a:pPr>
            <a:r>
              <a:rPr lang="en-US" sz="1200" dirty="0">
                <a:solidFill>
                  <a:srgbClr val="555555"/>
                </a:solidFill>
                <a:latin typeface="Inter" pitchFamily="34" charset="0"/>
                <a:ea typeface="Inter" pitchFamily="34" charset="-122"/>
                <a:cs typeface="Inter" pitchFamily="34" charset="-120"/>
              </a:rPr>
              <a:t>A worker that was never told X matters won't possibly know to care about it. We assume Claude knows what's important for us — but that's not always the case. It's important to reorient. This is NOT about bad code. It is about incomplete delivery that passes local checks.</a:t>
            </a:r>
            <a:endParaRPr lang="en-US" sz="1200" dirty="0"/>
          </a:p>
        </p:txBody>
      </p:sp>
      <p:sp>
        <p:nvSpPr>
          <p:cNvPr id="24" name="Text 21"/>
          <p:cNvSpPr/>
          <p:nvPr/>
        </p:nvSpPr>
        <p:spPr>
          <a:xfrm>
            <a:off x="548640" y="1874520"/>
            <a:ext cx="3657600" cy="274320"/>
          </a:xfrm>
          <a:prstGeom prst="rect">
            <a:avLst/>
          </a:prstGeom>
          <a:noFill/>
          <a:ln/>
        </p:spPr>
        <p:txBody>
          <a:bodyPr wrap="square" rtlCol="0" anchor="t"/>
          <a:lstStyle/>
          <a:p>
            <a:pPr indent="0" marL="0">
              <a:buNone/>
            </a:pPr>
            <a:r>
              <a:rPr lang="en-US" sz="1100" b="1" dirty="0">
                <a:solidFill>
                  <a:srgbClr val="2DA1BA"/>
                </a:solidFill>
                <a:latin typeface="Inter" pitchFamily="34" charset="0"/>
                <a:ea typeface="Inter" pitchFamily="34" charset="-122"/>
                <a:cs typeface="Inter" pitchFamily="34" charset="-120"/>
              </a:rPr>
              <a:t>WHAT YOU SEE</a:t>
            </a:r>
            <a:endParaRPr lang="en-US" sz="1100" dirty="0"/>
          </a:p>
        </p:txBody>
      </p:sp>
      <p:sp>
        <p:nvSpPr>
          <p:cNvPr id="25" name="Text 22"/>
          <p:cNvSpPr/>
          <p:nvPr/>
        </p:nvSpPr>
        <p:spPr>
          <a:xfrm>
            <a:off x="4663440" y="1874520"/>
            <a:ext cx="3931920" cy="274320"/>
          </a:xfrm>
          <a:prstGeom prst="rect">
            <a:avLst/>
          </a:prstGeom>
          <a:noFill/>
          <a:ln/>
        </p:spPr>
        <p:txBody>
          <a:bodyPr wrap="square" rtlCol="0" anchor="t"/>
          <a:lstStyle/>
          <a:p>
            <a:pPr indent="0" marL="0">
              <a:buNone/>
            </a:pPr>
            <a:r>
              <a:rPr lang="en-US" sz="1100" b="1" dirty="0">
                <a:solidFill>
                  <a:srgbClr val="2DA1BA"/>
                </a:solidFill>
                <a:latin typeface="Inter" pitchFamily="34" charset="0"/>
                <a:ea typeface="Inter" pitchFamily="34" charset="-122"/>
                <a:cs typeface="Inter" pitchFamily="34" charset="-120"/>
              </a:rPr>
              <a:t>WHAT IS ACTUALLY MISSING</a:t>
            </a:r>
            <a:endParaRPr lang="en-US" sz="1100" dirty="0"/>
          </a:p>
        </p:txBody>
      </p:sp>
      <p:sp>
        <p:nvSpPr>
          <p:cNvPr id="26" name="Text 23"/>
          <p:cNvSpPr/>
          <p:nvPr/>
        </p:nvSpPr>
        <p:spPr>
          <a:xfrm>
            <a:off x="548640" y="4434840"/>
            <a:ext cx="8046720" cy="228600"/>
          </a:xfrm>
          <a:prstGeom prst="rect">
            <a:avLst/>
          </a:prstGeom>
          <a:noFill/>
          <a:ln/>
        </p:spPr>
        <p:txBody>
          <a:bodyPr wrap="square" rtlCol="0" anchor="t">
            <a:normAutofit/>
          </a:bodyPr>
          <a:lstStyle/>
          <a:p>
            <a:pPr indent="0" marL="0">
              <a:buNone/>
            </a:pPr>
            <a:r>
              <a:rPr lang="en-US" sz="1200" b="1" i="1" dirty="0">
                <a:solidFill>
                  <a:srgbClr val="2DA1BA"/>
                </a:solidFill>
                <a:latin typeface="Inter" pitchFamily="34" charset="0"/>
                <a:ea typeface="Inter" pitchFamily="34" charset="-122"/>
                <a:cs typeface="Inter" pitchFamily="34" charset="-120"/>
              </a:rPr>
              <a:t>The local signal looks like a global one. It isn't.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pic>
        <p:nvPicPr>
          <p:cNvPr id="3" name="Image 0" descr="/home/fanderman/projects/luigis-box/presentations/assets/icon-color.png">    </p:cNvPr>
          <p:cNvPicPr>
            <a:picLocks noChangeAspect="1"/>
          </p:cNvPicPr>
          <p:nvPr/>
        </p:nvPicPr>
        <p:blipFill>
          <a:blip r:embed="rId1"/>
          <a:stretch>
            <a:fillRect/>
          </a:stretch>
        </p:blipFill>
        <p:spPr>
          <a:xfrm>
            <a:off x="8257032" y="566928"/>
            <a:ext cx="292608" cy="292608"/>
          </a:xfrm>
          <a:prstGeom prst="rect">
            <a:avLst/>
          </a:prstGeom>
        </p:spPr>
      </p:pic>
      <p:sp>
        <p:nvSpPr>
          <p:cNvPr id="4" name="Text 1"/>
          <p:cNvSpPr/>
          <p:nvPr/>
        </p:nvSpPr>
        <p:spPr>
          <a:xfrm>
            <a:off x="548640" y="365760"/>
            <a:ext cx="7635240" cy="365760"/>
          </a:xfrm>
          <a:prstGeom prst="rect">
            <a:avLst/>
          </a:prstGeom>
          <a:noFill/>
          <a:ln/>
        </p:spPr>
        <p:txBody>
          <a:bodyPr wrap="square" rtlCol="0" anchor="t">
            <a:normAutofit/>
          </a:bodyPr>
          <a:lstStyle/>
          <a:p>
            <a:pPr indent="0" marL="0">
              <a:buNone/>
            </a:pPr>
            <a:r>
              <a:rPr lang="en-US" sz="2400" b="1" dirty="0">
                <a:solidFill>
                  <a:srgbClr val="2DA1BA"/>
                </a:solidFill>
                <a:latin typeface="Inter" pitchFamily="34" charset="0"/>
                <a:ea typeface="Inter" pitchFamily="34" charset="-122"/>
                <a:cs typeface="Inter" pitchFamily="34" charset="-120"/>
              </a:rPr>
              <a:t>Case Study — Silent Drops</a:t>
            </a:r>
            <a:endParaRPr lang="en-US" sz="2400" dirty="0"/>
          </a:p>
        </p:txBody>
      </p:sp>
      <p:pic>
        <p:nvPicPr>
          <p:cNvPr id="5" name="Image 1" descr="/home/fanderman/projects/luigis-box/presentations/assets/icons/challenge-icon.png">    </p:cNvPr>
          <p:cNvPicPr>
            <a:picLocks noChangeAspect="1"/>
          </p:cNvPicPr>
          <p:nvPr/>
        </p:nvPicPr>
        <p:blipFill>
          <a:blip r:embed="rId2"/>
          <a:stretch>
            <a:fillRect/>
          </a:stretch>
        </p:blipFill>
        <p:spPr>
          <a:xfrm>
            <a:off x="548640" y="777240"/>
            <a:ext cx="393192" cy="393192"/>
          </a:xfrm>
          <a:prstGeom prst="rect">
            <a:avLst/>
          </a:prstGeom>
        </p:spPr>
      </p:pic>
      <p:sp>
        <p:nvSpPr>
          <p:cNvPr id="6" name="Text 2"/>
          <p:cNvSpPr/>
          <p:nvPr/>
        </p:nvSpPr>
        <p:spPr>
          <a:xfrm>
            <a:off x="1051560" y="795528"/>
            <a:ext cx="2743200" cy="365760"/>
          </a:xfrm>
          <a:prstGeom prst="rect">
            <a:avLst/>
          </a:prstGeom>
          <a:noFill/>
          <a:ln/>
        </p:spPr>
        <p:txBody>
          <a:bodyPr wrap="square" rtlCol="0" anchor="t"/>
          <a:lstStyle/>
          <a:p>
            <a:pPr indent="0" marL="0">
              <a:buNone/>
            </a:pPr>
            <a:r>
              <a:rPr lang="en-US" sz="1300" b="1" dirty="0">
                <a:solidFill>
                  <a:srgbClr val="2DA1BA"/>
                </a:solidFill>
                <a:latin typeface="Inter" pitchFamily="34" charset="0"/>
                <a:ea typeface="Inter" pitchFamily="34" charset="-122"/>
                <a:cs typeface="Inter" pitchFamily="34" charset="-120"/>
              </a:rPr>
              <a:t>The Challenge</a:t>
            </a:r>
            <a:endParaRPr lang="en-US" sz="1300" dirty="0"/>
          </a:p>
        </p:txBody>
      </p:sp>
      <p:sp>
        <p:nvSpPr>
          <p:cNvPr id="7" name="Text 3"/>
          <p:cNvSpPr/>
          <p:nvPr/>
        </p:nvSpPr>
        <p:spPr>
          <a:xfrm>
            <a:off x="548640" y="1234440"/>
            <a:ext cx="8046720" cy="1097280"/>
          </a:xfrm>
          <a:prstGeom prst="rect">
            <a:avLst/>
          </a:prstGeom>
          <a:noFill/>
          <a:ln/>
        </p:spPr>
        <p:txBody>
          <a:bodyPr wrap="square" rtlCol="0" anchor="t"/>
          <a:lstStyle/>
          <a:p>
            <a:pPr indent="0" marL="0">
              <a:buNone/>
            </a:pPr>
            <a:r>
              <a:rPr lang="en-US" sz="1200" dirty="0">
                <a:solidFill>
                  <a:srgbClr val="555555"/>
                </a:solidFill>
                <a:latin typeface="Inter" pitchFamily="34" charset="0"/>
                <a:ea typeface="Inter" pitchFamily="34" charset="-122"/>
                <a:cs typeface="Inter" pitchFamily="34" charset="-120"/>
              </a:rPr>
              <a:t>During a large refactoring, Claude was asked to compress a configuration file. The compressed version silently dropped 3 behavioral constraints that were load-bearing. The output looked complete. It wasn't. No test would catch that behavioral instructions are missing — the only way to catch it is to compare the output against the original, item by item.</a:t>
            </a:r>
            <a:endParaRPr lang="en-US" sz="1200" dirty="0"/>
          </a:p>
        </p:txBody>
      </p:sp>
      <p:pic>
        <p:nvPicPr>
          <p:cNvPr id="8" name="Image 2" descr="/home/fanderman/projects/luigis-box/presentations/assets/icons/solution-icon.png">    </p:cNvPr>
          <p:cNvPicPr>
            <a:picLocks noChangeAspect="1"/>
          </p:cNvPicPr>
          <p:nvPr/>
        </p:nvPicPr>
        <p:blipFill>
          <a:blip r:embed="rId3"/>
          <a:stretch>
            <a:fillRect/>
          </a:stretch>
        </p:blipFill>
        <p:spPr>
          <a:xfrm>
            <a:off x="548640" y="2560320"/>
            <a:ext cx="393192" cy="393192"/>
          </a:xfrm>
          <a:prstGeom prst="rect">
            <a:avLst/>
          </a:prstGeom>
        </p:spPr>
      </p:pic>
      <p:sp>
        <p:nvSpPr>
          <p:cNvPr id="9" name="Text 4"/>
          <p:cNvSpPr/>
          <p:nvPr/>
        </p:nvSpPr>
        <p:spPr>
          <a:xfrm>
            <a:off x="1051560" y="2578608"/>
            <a:ext cx="2743200" cy="365760"/>
          </a:xfrm>
          <a:prstGeom prst="rect">
            <a:avLst/>
          </a:prstGeom>
          <a:noFill/>
          <a:ln/>
        </p:spPr>
        <p:txBody>
          <a:bodyPr wrap="square" rtlCol="0" anchor="t"/>
          <a:lstStyle/>
          <a:p>
            <a:pPr indent="0" marL="0">
              <a:buNone/>
            </a:pPr>
            <a:r>
              <a:rPr lang="en-US" sz="1300" b="1" dirty="0">
                <a:solidFill>
                  <a:srgbClr val="2DA1BA"/>
                </a:solidFill>
                <a:latin typeface="Inter" pitchFamily="34" charset="0"/>
                <a:ea typeface="Inter" pitchFamily="34" charset="-122"/>
                <a:cs typeface="Inter" pitchFamily="34" charset="-120"/>
              </a:rPr>
              <a:t>How to Handle It</a:t>
            </a:r>
            <a:endParaRPr lang="en-US" sz="1300" dirty="0"/>
          </a:p>
        </p:txBody>
      </p:sp>
      <p:sp>
        <p:nvSpPr>
          <p:cNvPr id="10" name="Text 5"/>
          <p:cNvSpPr/>
          <p:nvPr/>
        </p:nvSpPr>
        <p:spPr>
          <a:xfrm>
            <a:off x="548640" y="3017520"/>
            <a:ext cx="8046720" cy="1554480"/>
          </a:xfrm>
          <a:prstGeom prst="rect">
            <a:avLst/>
          </a:prstGeom>
          <a:noFill/>
          <a:ln/>
        </p:spPr>
        <p:txBody>
          <a:bodyPr wrap="square" rtlCol="0" anchor="t"/>
          <a:lstStyle/>
          <a:p>
            <a:pPr marL="342900" indent="-342900">
              <a:buSzPct val="100000"/>
              <a:buChar char="●"/>
            </a:pPr>
            <a:r>
              <a:rPr lang="en-US" sz="1200" dirty="0">
                <a:solidFill>
                  <a:srgbClr val="0D0D0F"/>
                </a:solidFill>
                <a:latin typeface="Inter" pitchFamily="34" charset="0"/>
                <a:ea typeface="Inter" pitchFamily="34" charset="-122"/>
                <a:cs typeface="Inter" pitchFamily="34" charset="-120"/>
              </a:rPr>
              <a:t>Tier 1 (better prompt): list explicitly what must be preserved — "Do NOT remove any behavioral instructions. If unsure, keep it."</a:t>
            </a:r>
            <a:endParaRPr lang="en-US" sz="1200" dirty="0"/>
          </a:p>
          <a:p>
            <a:pPr marL="342900" indent="-342900">
              <a:buSzPct val="100000"/>
              <a:buChar char="●"/>
            </a:pPr>
            <a:r>
              <a:rPr lang="en-US" sz="1200" dirty="0">
                <a:solidFill>
                  <a:srgbClr val="0D0D0F"/>
                </a:solidFill>
                <a:latin typeface="Inter" pitchFamily="34" charset="0"/>
                <a:ea typeface="Inter" pitchFamily="34" charset="-122"/>
                <a:cs typeface="Inter" pitchFamily="34" charset="-120"/>
              </a:rPr>
              <a:t>Tier 2 (engage with output): diff the output against the original. Check: is anything missing that should not be?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sp>
        <p:nvSpPr>
          <p:cNvPr id="3" name="Text 1"/>
          <p:cNvSpPr/>
          <p:nvPr/>
        </p:nvSpPr>
        <p:spPr>
          <a:xfrm>
            <a:off x="548640" y="320040"/>
            <a:ext cx="8046720" cy="411480"/>
          </a:xfrm>
          <a:prstGeom prst="rect">
            <a:avLst/>
          </a:prstGeom>
          <a:noFill/>
          <a:ln/>
        </p:spPr>
        <p:txBody>
          <a:bodyPr wrap="square" rtlCol="0" anchor="t">
            <a:normAutofit/>
          </a:bodyPr>
          <a:lstStyle/>
          <a:p>
            <a:pPr indent="0" marL="0">
              <a:buNone/>
            </a:pPr>
            <a:r>
              <a:rPr lang="en-US" sz="2400" b="1" dirty="0">
                <a:solidFill>
                  <a:srgbClr val="35C2D6"/>
                </a:solidFill>
                <a:latin typeface="Inter" pitchFamily="34" charset="0"/>
                <a:ea typeface="Inter" pitchFamily="34" charset="-122"/>
                <a:cs typeface="Inter" pitchFamily="34" charset="-120"/>
              </a:rPr>
              <a:t>MVP Syndrome — Pattern + Response</a:t>
            </a:r>
            <a:endParaRPr lang="en-US" sz="2400" dirty="0"/>
          </a:p>
        </p:txBody>
      </p:sp>
      <p:sp>
        <p:nvSpPr>
          <p:cNvPr id="4" name="Text 2"/>
          <p:cNvSpPr/>
          <p:nvPr/>
        </p:nvSpPr>
        <p:spPr>
          <a:xfrm>
            <a:off x="548640" y="822960"/>
            <a:ext cx="8046720" cy="1417320"/>
          </a:xfrm>
          <a:prstGeom prst="rect">
            <a:avLst/>
          </a:prstGeom>
          <a:noFill/>
          <a:ln/>
        </p:spPr>
        <p:txBody>
          <a:bodyPr wrap="square" rtlCol="0" anchor="t"/>
          <a:lstStyle/>
          <a:p>
            <a:pPr marL="342900" indent="-342900">
              <a:buSzPct val="100000"/>
              <a:buChar char="●"/>
            </a:pPr>
            <a:r>
              <a:rPr lang="en-US" sz="1200" dirty="0">
                <a:solidFill>
                  <a:srgbClr val="F4FBFC"/>
                </a:solidFill>
                <a:latin typeface="Inter" pitchFamily="34" charset="0"/>
                <a:ea typeface="Inter" pitchFamily="34" charset="-122"/>
                <a:cs typeface="Inter" pitchFamily="34" charset="-120"/>
              </a:rPr>
              <a:t>What you see: Code exists. Tests pass. Reviewer approves.</a:t>
            </a:r>
            <a:endParaRPr lang="en-US" sz="1200" dirty="0"/>
          </a:p>
          <a:p>
            <a:pPr marL="342900" indent="-342900">
              <a:buSzPct val="100000"/>
              <a:buChar char="●"/>
            </a:pPr>
            <a:r>
              <a:rPr lang="en-US" sz="1200" dirty="0">
                <a:solidFill>
                  <a:srgbClr val="F4FBFC"/>
                </a:solidFill>
                <a:latin typeface="Inter" pitchFamily="34" charset="0"/>
                <a:ea typeface="Inter" pitchFamily="34" charset="-122"/>
                <a:cs typeface="Inter" pitchFamily="34" charset="-120"/>
              </a:rPr>
              <a:t>What is missing: Spec items skipped. Constraints dropped. Dead code never wired.</a:t>
            </a:r>
            <a:endParaRPr lang="en-US" sz="1200" dirty="0"/>
          </a:p>
          <a:p>
            <a:pPr marL="342900" indent="-342900">
              <a:buSzPct val="100000"/>
              <a:buChar char="●"/>
            </a:pPr>
            <a:r>
              <a:rPr lang="en-US" sz="1200" dirty="0">
                <a:solidFill>
                  <a:srgbClr val="F4FBFC"/>
                </a:solidFill>
                <a:latin typeface="Inter" pitchFamily="34" charset="0"/>
                <a:ea typeface="Inter" pitchFamily="34" charset="-122"/>
                <a:cs typeface="Inter" pitchFamily="34" charset="-120"/>
              </a:rPr>
              <a:t>Why it persists: No test catches missing instructions. Code review checks quality, not spec coverage.</a:t>
            </a:r>
            <a:endParaRPr lang="en-US" sz="1200" dirty="0"/>
          </a:p>
        </p:txBody>
      </p:sp>
      <p:sp>
        <p:nvSpPr>
          <p:cNvPr id="5" name="Text 3"/>
          <p:cNvSpPr/>
          <p:nvPr/>
        </p:nvSpPr>
        <p:spPr>
          <a:xfrm>
            <a:off x="548640" y="2331720"/>
            <a:ext cx="8046720" cy="320040"/>
          </a:xfrm>
          <a:prstGeom prst="rect">
            <a:avLst/>
          </a:prstGeom>
          <a:noFill/>
          <a:ln/>
        </p:spPr>
        <p:txBody>
          <a:bodyPr wrap="square" rtlCol="0" anchor="t"/>
          <a:lstStyle/>
          <a:p>
            <a:pPr indent="0" marL="0">
              <a:buNone/>
            </a:pPr>
            <a:r>
              <a:rPr lang="en-US" sz="1400" b="1" dirty="0">
                <a:solidFill>
                  <a:srgbClr val="35C2D6"/>
                </a:solidFill>
                <a:latin typeface="Inter" pitchFamily="34" charset="0"/>
                <a:ea typeface="Inter" pitchFamily="34" charset="-122"/>
                <a:cs typeface="Inter" pitchFamily="34" charset="-120"/>
              </a:rPr>
              <a:t>How to Handle It — Three Tiers:</a:t>
            </a:r>
            <a:endParaRPr lang="en-US" sz="1400" dirty="0"/>
          </a:p>
        </p:txBody>
      </p:sp>
      <p:sp>
        <p:nvSpPr>
          <p:cNvPr id="6" name="Text 4"/>
          <p:cNvSpPr/>
          <p:nvPr/>
        </p:nvSpPr>
        <p:spPr>
          <a:xfrm>
            <a:off x="548640" y="2743200"/>
            <a:ext cx="8046720" cy="1828800"/>
          </a:xfrm>
          <a:prstGeom prst="rect">
            <a:avLst/>
          </a:prstGeom>
          <a:noFill/>
          <a:ln/>
        </p:spPr>
        <p:txBody>
          <a:bodyPr wrap="square" rtlCol="0" anchor="t"/>
          <a:lstStyle/>
          <a:p>
            <a:pPr marL="342900" indent="-342900">
              <a:buSzPct val="100000"/>
              <a:buChar char="●"/>
            </a:pPr>
            <a:r>
              <a:rPr lang="en-US" sz="1100" dirty="0">
                <a:solidFill>
                  <a:srgbClr val="8899AA"/>
                </a:solidFill>
                <a:latin typeface="Inter" pitchFamily="34" charset="0"/>
                <a:ea typeface="Inter" pitchFamily="34" charset="-122"/>
                <a:cs typeface="Inter" pitchFamily="34" charset="-120"/>
              </a:rPr>
              <a:t>Tier 1 — Better prompt: define "done" explicitly. List every feature, constraint, edge case.</a:t>
            </a:r>
            <a:endParaRPr lang="en-US" sz="1100" dirty="0"/>
          </a:p>
          <a:p>
            <a:pPr marL="342900" indent="-342900">
              <a:buSzPct val="100000"/>
              <a:buChar char="●"/>
            </a:pPr>
            <a:r>
              <a:rPr lang="en-US" sz="1100" dirty="0">
                <a:solidFill>
                  <a:srgbClr val="8899AA"/>
                </a:solidFill>
                <a:latin typeface="Inter" pitchFamily="34" charset="0"/>
                <a:ea typeface="Inter" pitchFamily="34" charset="-122"/>
                <a:cs typeface="Inter" pitchFamily="34" charset="-120"/>
              </a:rPr>
              <a:t>Tier 2 — Engage with output: check coverage yourself, requirement by requirement.</a:t>
            </a:r>
            <a:endParaRPr lang="en-US" sz="1100" dirty="0"/>
          </a:p>
          <a:p>
            <a:pPr marL="342900" indent="-342900">
              <a:buSzPct val="100000"/>
              <a:buChar char="●"/>
            </a:pPr>
            <a:r>
              <a:rPr lang="en-US" sz="1100" dirty="0">
                <a:solidFill>
                  <a:srgbClr val="8899AA"/>
                </a:solidFill>
                <a:latin typeface="Inter" pitchFamily="34" charset="0"/>
                <a:ea typeface="Inter" pitchFamily="34" charset="-122"/>
                <a:cs typeface="Inter" pitchFamily="34" charset="-120"/>
              </a:rPr>
              <a:t>Tier 3 — Phased task: (1) ask for a checklist + ambiguities; (2) review + correct; (3) implement; (4) map checklist items to code; (5) review mapping. Human gates between phases.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pic>
        <p:nvPicPr>
          <p:cNvPr id="3" name="Image 0" descr="/home/fanderman/projects/luigis-box/presentations/assets/icon-color.png">    </p:cNvPr>
          <p:cNvPicPr>
            <a:picLocks noChangeAspect="1"/>
          </p:cNvPicPr>
          <p:nvPr/>
        </p:nvPicPr>
        <p:blipFill>
          <a:blip r:embed="rId1"/>
          <a:stretch>
            <a:fillRect/>
          </a:stretch>
        </p:blipFill>
        <p:spPr>
          <a:xfrm>
            <a:off x="8257032" y="566928"/>
            <a:ext cx="292608" cy="292608"/>
          </a:xfrm>
          <a:prstGeom prst="rect">
            <a:avLst/>
          </a:prstGeom>
        </p:spPr>
      </p:pic>
      <p:sp>
        <p:nvSpPr>
          <p:cNvPr id="4" name="Shape 1"/>
          <p:cNvSpPr/>
          <p:nvPr/>
        </p:nvSpPr>
        <p:spPr>
          <a:xfrm>
            <a:off x="548640" y="1810512"/>
            <a:ext cx="3657600" cy="713232"/>
          </a:xfrm>
          <a:prstGeom prst="roundRect">
            <a:avLst>
              <a:gd name="adj" fmla="val 10256"/>
            </a:avLst>
          </a:prstGeom>
          <a:solidFill>
            <a:srgbClr val="E5F8FA"/>
          </a:solidFill>
          <a:ln/>
        </p:spPr>
      </p:sp>
      <p:sp>
        <p:nvSpPr>
          <p:cNvPr id="5" name="Text 2"/>
          <p:cNvSpPr/>
          <p:nvPr/>
        </p:nvSpPr>
        <p:spPr>
          <a:xfrm>
            <a:off x="640080" y="1920240"/>
            <a:ext cx="347472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Specific numbers</a:t>
            </a:r>
            <a:endParaRPr lang="en-US" sz="1100" dirty="0"/>
          </a:p>
        </p:txBody>
      </p:sp>
      <p:sp>
        <p:nvSpPr>
          <p:cNvPr id="6" name="Text 3"/>
          <p:cNvSpPr/>
          <p:nvPr/>
        </p:nvSpPr>
        <p:spPr>
          <a:xfrm>
            <a:off x="640080" y="2267712"/>
            <a:ext cx="347472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Numbers real; mechanism unverified</a:t>
            </a:r>
            <a:endParaRPr lang="en-US" sz="1000" dirty="0"/>
          </a:p>
        </p:txBody>
      </p:sp>
      <p:sp>
        <p:nvSpPr>
          <p:cNvPr id="7" name="Shape 4"/>
          <p:cNvSpPr/>
          <p:nvPr/>
        </p:nvSpPr>
        <p:spPr>
          <a:xfrm>
            <a:off x="4663440" y="1810512"/>
            <a:ext cx="3931920" cy="713232"/>
          </a:xfrm>
          <a:prstGeom prst="roundRect">
            <a:avLst>
              <a:gd name="adj" fmla="val 10256"/>
            </a:avLst>
          </a:prstGeom>
          <a:solidFill>
            <a:srgbClr val="E5F8FA"/>
          </a:solidFill>
          <a:ln/>
        </p:spPr>
      </p:sp>
      <p:sp>
        <p:nvSpPr>
          <p:cNvPr id="8" name="Text 5"/>
          <p:cNvSpPr/>
          <p:nvPr/>
        </p:nvSpPr>
        <p:spPr>
          <a:xfrm>
            <a:off x="4754880" y="1920240"/>
            <a:ext cx="374904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a:t>
            </a:r>
            <a:endParaRPr lang="en-US" sz="1100" dirty="0"/>
          </a:p>
        </p:txBody>
      </p:sp>
      <p:sp>
        <p:nvSpPr>
          <p:cNvPr id="9" name="Text 6"/>
          <p:cNvSpPr/>
          <p:nvPr/>
        </p:nvSpPr>
        <p:spPr>
          <a:xfrm>
            <a:off x="4754880" y="2267712"/>
            <a:ext cx="374904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Numbers real; mechanism unverified</a:t>
            </a:r>
            <a:endParaRPr lang="en-US" sz="1000" dirty="0"/>
          </a:p>
        </p:txBody>
      </p:sp>
      <p:sp>
        <p:nvSpPr>
          <p:cNvPr id="10" name="Shape 7"/>
          <p:cNvSpPr/>
          <p:nvPr/>
        </p:nvSpPr>
        <p:spPr>
          <a:xfrm>
            <a:off x="548640" y="2523744"/>
            <a:ext cx="3657600" cy="713232"/>
          </a:xfrm>
          <a:prstGeom prst="roundRect">
            <a:avLst>
              <a:gd name="adj" fmla="val 10256"/>
            </a:avLst>
          </a:prstGeom>
          <a:solidFill>
            <a:srgbClr val="E5F8FA"/>
          </a:solidFill>
          <a:ln/>
        </p:spPr>
      </p:sp>
      <p:sp>
        <p:nvSpPr>
          <p:cNvPr id="11" name="Text 8"/>
          <p:cNvSpPr/>
          <p:nvPr/>
        </p:nvSpPr>
        <p:spPr>
          <a:xfrm>
            <a:off x="640080" y="2633472"/>
            <a:ext cx="347472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Confident recommendations</a:t>
            </a:r>
            <a:endParaRPr lang="en-US" sz="1100" dirty="0"/>
          </a:p>
        </p:txBody>
      </p:sp>
      <p:sp>
        <p:nvSpPr>
          <p:cNvPr id="12" name="Text 9"/>
          <p:cNvSpPr/>
          <p:nvPr/>
        </p:nvSpPr>
        <p:spPr>
          <a:xfrm>
            <a:off x="640080" y="2980944"/>
            <a:ext cx="347472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N=1 generalization presented as systemic</a:t>
            </a:r>
            <a:endParaRPr lang="en-US" sz="1000" dirty="0"/>
          </a:p>
        </p:txBody>
      </p:sp>
      <p:sp>
        <p:nvSpPr>
          <p:cNvPr id="13" name="Shape 10"/>
          <p:cNvSpPr/>
          <p:nvPr/>
        </p:nvSpPr>
        <p:spPr>
          <a:xfrm>
            <a:off x="4663440" y="2523744"/>
            <a:ext cx="3931920" cy="713232"/>
          </a:xfrm>
          <a:prstGeom prst="roundRect">
            <a:avLst>
              <a:gd name="adj" fmla="val 10256"/>
            </a:avLst>
          </a:prstGeom>
          <a:solidFill>
            <a:srgbClr val="E5F8FA"/>
          </a:solidFill>
          <a:ln/>
        </p:spPr>
      </p:sp>
      <p:sp>
        <p:nvSpPr>
          <p:cNvPr id="14" name="Text 11"/>
          <p:cNvSpPr/>
          <p:nvPr/>
        </p:nvSpPr>
        <p:spPr>
          <a:xfrm>
            <a:off x="4754880" y="2633472"/>
            <a:ext cx="374904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a:t>
            </a:r>
            <a:endParaRPr lang="en-US" sz="1100" dirty="0"/>
          </a:p>
        </p:txBody>
      </p:sp>
      <p:sp>
        <p:nvSpPr>
          <p:cNvPr id="15" name="Text 12"/>
          <p:cNvSpPr/>
          <p:nvPr/>
        </p:nvSpPr>
        <p:spPr>
          <a:xfrm>
            <a:off x="4754880" y="2980944"/>
            <a:ext cx="374904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N=1 generalization presented as systemic</a:t>
            </a:r>
            <a:endParaRPr lang="en-US" sz="1000" dirty="0"/>
          </a:p>
        </p:txBody>
      </p:sp>
      <p:sp>
        <p:nvSpPr>
          <p:cNvPr id="16" name="Shape 13"/>
          <p:cNvSpPr/>
          <p:nvPr/>
        </p:nvSpPr>
        <p:spPr>
          <a:xfrm>
            <a:off x="548640" y="3236976"/>
            <a:ext cx="3657600" cy="713232"/>
          </a:xfrm>
          <a:prstGeom prst="roundRect">
            <a:avLst>
              <a:gd name="adj" fmla="val 10256"/>
            </a:avLst>
          </a:prstGeom>
          <a:solidFill>
            <a:srgbClr val="E5F8FA"/>
          </a:solidFill>
          <a:ln/>
        </p:spPr>
      </p:sp>
      <p:sp>
        <p:nvSpPr>
          <p:cNvPr id="17" name="Text 14"/>
          <p:cNvSpPr/>
          <p:nvPr/>
        </p:nvSpPr>
        <p:spPr>
          <a:xfrm>
            <a:off x="640080" y="3346704"/>
            <a:ext cx="347472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Hedge word ("appears")</a:t>
            </a:r>
            <a:endParaRPr lang="en-US" sz="1100" dirty="0"/>
          </a:p>
        </p:txBody>
      </p:sp>
      <p:sp>
        <p:nvSpPr>
          <p:cNvPr id="18" name="Text 15"/>
          <p:cNvSpPr/>
          <p:nvPr/>
        </p:nvSpPr>
        <p:spPr>
          <a:xfrm>
            <a:off x="640080" y="3694176"/>
            <a:ext cx="347472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Doing enormous load-bearing work</a:t>
            </a:r>
            <a:endParaRPr lang="en-US" sz="1000" dirty="0"/>
          </a:p>
        </p:txBody>
      </p:sp>
      <p:sp>
        <p:nvSpPr>
          <p:cNvPr id="19" name="Shape 16"/>
          <p:cNvSpPr/>
          <p:nvPr/>
        </p:nvSpPr>
        <p:spPr>
          <a:xfrm>
            <a:off x="4663440" y="3236976"/>
            <a:ext cx="3931920" cy="713232"/>
          </a:xfrm>
          <a:prstGeom prst="roundRect">
            <a:avLst>
              <a:gd name="adj" fmla="val 10256"/>
            </a:avLst>
          </a:prstGeom>
          <a:solidFill>
            <a:srgbClr val="E5F8FA"/>
          </a:solidFill>
          <a:ln/>
        </p:spPr>
      </p:sp>
      <p:sp>
        <p:nvSpPr>
          <p:cNvPr id="20" name="Text 17"/>
          <p:cNvSpPr/>
          <p:nvPr/>
        </p:nvSpPr>
        <p:spPr>
          <a:xfrm>
            <a:off x="4754880" y="3346704"/>
            <a:ext cx="374904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a:t>
            </a:r>
            <a:endParaRPr lang="en-US" sz="1100" dirty="0"/>
          </a:p>
        </p:txBody>
      </p:sp>
      <p:sp>
        <p:nvSpPr>
          <p:cNvPr id="21" name="Text 18"/>
          <p:cNvSpPr/>
          <p:nvPr/>
        </p:nvSpPr>
        <p:spPr>
          <a:xfrm>
            <a:off x="4754880" y="3694176"/>
            <a:ext cx="374904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Doing enormous load-bearing work</a:t>
            </a:r>
            <a:endParaRPr lang="en-US" sz="1000" dirty="0"/>
          </a:p>
        </p:txBody>
      </p:sp>
      <p:sp>
        <p:nvSpPr>
          <p:cNvPr id="22" name="Shape 19"/>
          <p:cNvSpPr/>
          <p:nvPr/>
        </p:nvSpPr>
        <p:spPr>
          <a:xfrm>
            <a:off x="548640" y="3950208"/>
            <a:ext cx="3657600" cy="713232"/>
          </a:xfrm>
          <a:prstGeom prst="roundRect">
            <a:avLst>
              <a:gd name="adj" fmla="val 10256"/>
            </a:avLst>
          </a:prstGeom>
          <a:solidFill>
            <a:srgbClr val="E5F8FA"/>
          </a:solidFill>
          <a:ln/>
        </p:spPr>
      </p:sp>
      <p:sp>
        <p:nvSpPr>
          <p:cNvPr id="23" name="Text 20"/>
          <p:cNvSpPr/>
          <p:nvPr/>
        </p:nvSpPr>
        <p:spPr>
          <a:xfrm>
            <a:off x="640080" y="4059936"/>
            <a:ext cx="347472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"Verified" tag</a:t>
            </a:r>
            <a:endParaRPr lang="en-US" sz="1100" dirty="0"/>
          </a:p>
        </p:txBody>
      </p:sp>
      <p:sp>
        <p:nvSpPr>
          <p:cNvPr id="24" name="Text 21"/>
          <p:cNvSpPr/>
          <p:nvPr/>
        </p:nvSpPr>
        <p:spPr>
          <a:xfrm>
            <a:off x="640080" y="4407408"/>
            <a:ext cx="347472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Verified against a diff, not against runtime</a:t>
            </a:r>
            <a:endParaRPr lang="en-US" sz="1000" dirty="0"/>
          </a:p>
        </p:txBody>
      </p:sp>
      <p:sp>
        <p:nvSpPr>
          <p:cNvPr id="25" name="Shape 22"/>
          <p:cNvSpPr/>
          <p:nvPr/>
        </p:nvSpPr>
        <p:spPr>
          <a:xfrm>
            <a:off x="4663440" y="3950208"/>
            <a:ext cx="3931920" cy="713232"/>
          </a:xfrm>
          <a:prstGeom prst="roundRect">
            <a:avLst>
              <a:gd name="adj" fmla="val 10256"/>
            </a:avLst>
          </a:prstGeom>
          <a:solidFill>
            <a:srgbClr val="E5F8FA"/>
          </a:solidFill>
          <a:ln/>
        </p:spPr>
      </p:sp>
      <p:sp>
        <p:nvSpPr>
          <p:cNvPr id="26" name="Text 23"/>
          <p:cNvSpPr/>
          <p:nvPr/>
        </p:nvSpPr>
        <p:spPr>
          <a:xfrm>
            <a:off x="4754880" y="4059936"/>
            <a:ext cx="3749040" cy="274320"/>
          </a:xfrm>
          <a:prstGeom prst="rect">
            <a:avLst/>
          </a:prstGeom>
          <a:noFill/>
          <a:ln/>
        </p:spPr>
        <p:txBody>
          <a:bodyPr wrap="square" rtlCol="0" anchor="t">
            <a:normAutofit/>
          </a:bodyPr>
          <a:lstStyle/>
          <a:p>
            <a:pPr indent="0" marL="0">
              <a:buNone/>
            </a:pPr>
            <a:r>
              <a:rPr lang="en-US" sz="1100" b="1" dirty="0">
                <a:solidFill>
                  <a:srgbClr val="0D0D0F"/>
                </a:solidFill>
                <a:latin typeface="Inter" pitchFamily="34" charset="0"/>
                <a:ea typeface="Inter" pitchFamily="34" charset="-122"/>
                <a:cs typeface="Inter" pitchFamily="34" charset="-120"/>
              </a:rPr>
              <a:t>—</a:t>
            </a:r>
            <a:endParaRPr lang="en-US" sz="1100" dirty="0"/>
          </a:p>
        </p:txBody>
      </p:sp>
      <p:sp>
        <p:nvSpPr>
          <p:cNvPr id="27" name="Text 24"/>
          <p:cNvSpPr/>
          <p:nvPr/>
        </p:nvSpPr>
        <p:spPr>
          <a:xfrm>
            <a:off x="4754880" y="4407408"/>
            <a:ext cx="3749040" cy="256032"/>
          </a:xfrm>
          <a:prstGeom prst="rect">
            <a:avLst/>
          </a:prstGeom>
          <a:noFill/>
          <a:ln/>
        </p:spPr>
        <p:txBody>
          <a:bodyPr wrap="square" rtlCol="0" anchor="t">
            <a:normAutofit/>
          </a:bodyPr>
          <a:lstStyle/>
          <a:p>
            <a:pPr indent="0" marL="0">
              <a:buNone/>
            </a:pPr>
            <a:r>
              <a:rPr lang="en-US" sz="1000" dirty="0">
                <a:solidFill>
                  <a:srgbClr val="0D0D0F"/>
                </a:solidFill>
                <a:latin typeface="Inter" pitchFamily="34" charset="0"/>
                <a:ea typeface="Inter" pitchFamily="34" charset="-122"/>
                <a:cs typeface="Inter" pitchFamily="34" charset="-120"/>
              </a:rPr>
              <a:t>Verified against a diff, not against runtime</a:t>
            </a:r>
            <a:endParaRPr lang="en-US" sz="1000" dirty="0"/>
          </a:p>
        </p:txBody>
      </p:sp>
      <p:sp>
        <p:nvSpPr>
          <p:cNvPr id="28" name="Text 25"/>
          <p:cNvSpPr/>
          <p:nvPr/>
        </p:nvSpPr>
        <p:spPr>
          <a:xfrm>
            <a:off x="548640" y="365760"/>
            <a:ext cx="7635240" cy="365760"/>
          </a:xfrm>
          <a:prstGeom prst="rect">
            <a:avLst/>
          </a:prstGeom>
          <a:noFill/>
          <a:ln/>
        </p:spPr>
        <p:txBody>
          <a:bodyPr wrap="square" rtlCol="0" anchor="t">
            <a:normAutofit/>
          </a:bodyPr>
          <a:lstStyle/>
          <a:p>
            <a:pPr indent="0" marL="0">
              <a:buNone/>
            </a:pPr>
            <a:r>
              <a:rPr lang="en-US" sz="2400" b="1" dirty="0">
                <a:solidFill>
                  <a:srgbClr val="2DA1BA"/>
                </a:solidFill>
                <a:latin typeface="Inter" pitchFamily="34" charset="0"/>
                <a:ea typeface="Inter" pitchFamily="34" charset="-122"/>
                <a:cs typeface="Inter" pitchFamily="34" charset="-120"/>
              </a:rPr>
              <a:t>Fact-Free Output — What It Is</a:t>
            </a:r>
            <a:endParaRPr lang="en-US" sz="2400" dirty="0"/>
          </a:p>
        </p:txBody>
      </p:sp>
      <p:sp>
        <p:nvSpPr>
          <p:cNvPr id="29" name="Text 26"/>
          <p:cNvSpPr/>
          <p:nvPr/>
        </p:nvSpPr>
        <p:spPr>
          <a:xfrm>
            <a:off x="548640" y="777240"/>
            <a:ext cx="7635240" cy="685800"/>
          </a:xfrm>
          <a:prstGeom prst="rect">
            <a:avLst/>
          </a:prstGeom>
          <a:noFill/>
          <a:ln/>
        </p:spPr>
        <p:txBody>
          <a:bodyPr wrap="square" rtlCol="0" anchor="t"/>
          <a:lstStyle/>
          <a:p>
            <a:pPr indent="0" marL="0">
              <a:buNone/>
            </a:pPr>
            <a:r>
              <a:rPr lang="en-US" sz="1200" i="1" dirty="0">
                <a:solidFill>
                  <a:srgbClr val="555555"/>
                </a:solidFill>
                <a:latin typeface="Inter" pitchFamily="34" charset="0"/>
                <a:ea typeface="Inter" pitchFamily="34" charset="-122"/>
                <a:cs typeface="Inter" pitchFamily="34" charset="-120"/>
              </a:rPr>
              <a:t>Confident, specific-sounding analysis where numbers are real but mechanisms are fabricated, verification tags are superficial, hedge words are doing enormous load-bearing work.</a:t>
            </a:r>
            <a:endParaRPr lang="en-US" sz="1200" dirty="0"/>
          </a:p>
        </p:txBody>
      </p:sp>
      <p:sp>
        <p:nvSpPr>
          <p:cNvPr id="30" name="Text 27"/>
          <p:cNvSpPr/>
          <p:nvPr/>
        </p:nvSpPr>
        <p:spPr>
          <a:xfrm>
            <a:off x="548640" y="1554480"/>
            <a:ext cx="3657600" cy="228600"/>
          </a:xfrm>
          <a:prstGeom prst="rect">
            <a:avLst/>
          </a:prstGeom>
          <a:noFill/>
          <a:ln/>
        </p:spPr>
        <p:txBody>
          <a:bodyPr wrap="square" rtlCol="0" anchor="t"/>
          <a:lstStyle/>
          <a:p>
            <a:pPr indent="0" marL="0">
              <a:buNone/>
            </a:pPr>
            <a:r>
              <a:rPr lang="en-US" sz="1100" b="1" dirty="0">
                <a:solidFill>
                  <a:srgbClr val="2DA1BA"/>
                </a:solidFill>
                <a:latin typeface="Inter" pitchFamily="34" charset="0"/>
                <a:ea typeface="Inter" pitchFamily="34" charset="-122"/>
                <a:cs typeface="Inter" pitchFamily="34" charset="-120"/>
              </a:rPr>
              <a:t>WHAT YOU SEE</a:t>
            </a:r>
            <a:endParaRPr lang="en-US" sz="1100" dirty="0"/>
          </a:p>
        </p:txBody>
      </p:sp>
      <p:sp>
        <p:nvSpPr>
          <p:cNvPr id="31" name="Text 28"/>
          <p:cNvSpPr/>
          <p:nvPr/>
        </p:nvSpPr>
        <p:spPr>
          <a:xfrm>
            <a:off x="4663440" y="1554480"/>
            <a:ext cx="3931920" cy="228600"/>
          </a:xfrm>
          <a:prstGeom prst="rect">
            <a:avLst/>
          </a:prstGeom>
          <a:noFill/>
          <a:ln/>
        </p:spPr>
        <p:txBody>
          <a:bodyPr wrap="square" rtlCol="0" anchor="t"/>
          <a:lstStyle/>
          <a:p>
            <a:pPr indent="0" marL="0">
              <a:buNone/>
            </a:pPr>
            <a:r>
              <a:rPr lang="en-US" sz="1100" b="1" dirty="0">
                <a:solidFill>
                  <a:srgbClr val="2DA1BA"/>
                </a:solidFill>
                <a:latin typeface="Inter" pitchFamily="34" charset="0"/>
                <a:ea typeface="Inter" pitchFamily="34" charset="-122"/>
                <a:cs typeface="Inter" pitchFamily="34" charset="-120"/>
              </a:rPr>
              <a:t>WHAT IS HIDING</a:t>
            </a:r>
            <a:endParaRPr lang="en-US" sz="1100" dirty="0"/>
          </a:p>
        </p:txBody>
      </p:sp>
      <p:sp>
        <p:nvSpPr>
          <p:cNvPr id="32" name="Text 29"/>
          <p:cNvSpPr/>
          <p:nvPr/>
        </p:nvSpPr>
        <p:spPr>
          <a:xfrm>
            <a:off x="548640" y="1463040"/>
            <a:ext cx="8046720" cy="91440"/>
          </a:xfrm>
          <a:prstGeom prst="rect">
            <a:avLst/>
          </a:prstGeom>
          <a:noFill/>
          <a:ln/>
        </p:spPr>
        <p:txBody>
          <a:bodyPr wrap="square" rtlCol="0" anchor="t">
            <a:normAutofit/>
          </a:bodyPr>
          <a:lstStyle/>
          <a:p>
            <a:pPr indent="0" marL="0">
              <a:buNone/>
            </a:pPr>
            <a:r>
              <a:rPr lang="en-US" sz="1100" i="1" dirty="0">
                <a:solidFill>
                  <a:srgbClr val="2DA1BA"/>
                </a:solidFill>
                <a:latin typeface="Inter" pitchFamily="34" charset="0"/>
                <a:ea typeface="Inter" pitchFamily="34" charset="-122"/>
                <a:cs typeface="Inter" pitchFamily="34" charset="-120"/>
              </a:rPr>
              <a:t>This is NOT hallucination. It is insufficient verification of real-seeming claims.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sp>
        <p:nvSpPr>
          <p:cNvPr id="3" name="Text 1"/>
          <p:cNvSpPr/>
          <p:nvPr/>
        </p:nvSpPr>
        <p:spPr>
          <a:xfrm>
            <a:off x="548640" y="365760"/>
            <a:ext cx="8046720" cy="457200"/>
          </a:xfrm>
          <a:prstGeom prst="rect">
            <a:avLst/>
          </a:prstGeom>
          <a:noFill/>
          <a:ln/>
        </p:spPr>
        <p:txBody>
          <a:bodyPr wrap="square" rtlCol="0" anchor="t">
            <a:normAutofit/>
          </a:bodyPr>
          <a:lstStyle/>
          <a:p>
            <a:pPr indent="0" marL="0">
              <a:buNone/>
            </a:pPr>
            <a:r>
              <a:rPr lang="en-US" sz="2400" b="1" dirty="0">
                <a:solidFill>
                  <a:srgbClr val="35C2D6"/>
                </a:solidFill>
                <a:latin typeface="Inter" pitchFamily="34" charset="0"/>
                <a:ea typeface="Inter" pitchFamily="34" charset="-122"/>
                <a:cs typeface="Inter" pitchFamily="34" charset="-120"/>
              </a:rPr>
              <a:t>Plausible But Wrong — Four Patterns</a:t>
            </a:r>
            <a:endParaRPr lang="en-US" sz="2400" dirty="0"/>
          </a:p>
        </p:txBody>
      </p:sp>
      <p:sp>
        <p:nvSpPr>
          <p:cNvPr id="4" name="Text 2"/>
          <p:cNvSpPr/>
          <p:nvPr/>
        </p:nvSpPr>
        <p:spPr>
          <a:xfrm>
            <a:off x="548640" y="914400"/>
            <a:ext cx="8046720" cy="502920"/>
          </a:xfrm>
          <a:prstGeom prst="rect">
            <a:avLst/>
          </a:prstGeom>
          <a:noFill/>
          <a:ln/>
        </p:spPr>
        <p:txBody>
          <a:bodyPr wrap="square" rtlCol="0" anchor="t"/>
          <a:lstStyle/>
          <a:p>
            <a:pPr indent="0" marL="0">
              <a:buNone/>
            </a:pPr>
            <a:r>
              <a:rPr lang="en-US" sz="1200" i="1" dirty="0">
                <a:solidFill>
                  <a:srgbClr val="8899AA"/>
                </a:solidFill>
                <a:latin typeface="Inter" pitchFamily="34" charset="0"/>
                <a:ea typeface="Inter" pitchFamily="34" charset="-122"/>
                <a:cs typeface="Inter" pitchFamily="34" charset="-120"/>
              </a:rPr>
              <a:t>These are things you look for when reading Claude's output. This is what "engage with the output" actually means in practice.</a:t>
            </a:r>
            <a:endParaRPr lang="en-US" sz="1200" dirty="0"/>
          </a:p>
        </p:txBody>
      </p:sp>
      <p:sp>
        <p:nvSpPr>
          <p:cNvPr id="5" name="Text 3"/>
          <p:cNvSpPr/>
          <p:nvPr/>
        </p:nvSpPr>
        <p:spPr>
          <a:xfrm>
            <a:off x="548640" y="1508760"/>
            <a:ext cx="8046720" cy="2468880"/>
          </a:xfrm>
          <a:prstGeom prst="rect">
            <a:avLst/>
          </a:prstGeom>
          <a:noFill/>
          <a:ln/>
        </p:spPr>
        <p:txBody>
          <a:bodyPr wrap="square" rtlCol="0" anchor="t"/>
          <a:lstStyle/>
          <a:p>
            <a:pPr marL="342900" indent="-342900">
              <a:buSzPct val="100000"/>
              <a:buChar char="●"/>
            </a:pPr>
            <a:r>
              <a:rPr lang="en-US" sz="1200" dirty="0">
                <a:solidFill>
                  <a:srgbClr val="F4FBFC"/>
                </a:solidFill>
                <a:latin typeface="Inter" pitchFamily="34" charset="0"/>
                <a:ea typeface="Inter" pitchFamily="34" charset="-122"/>
                <a:cs typeface="Inter" pitchFamily="34" charset="-120"/>
              </a:rPr>
              <a:t>Hedge words doing load-bearing work — "appears to" driving a 50% estimate means "I did not verify this"</a:t>
            </a:r>
            <a:endParaRPr lang="en-US" sz="1200" dirty="0"/>
          </a:p>
          <a:p>
            <a:pPr marL="342900" indent="-342900">
              <a:buSzPct val="100000"/>
              <a:buChar char="●"/>
            </a:pPr>
            <a:r>
              <a:rPr lang="en-US" sz="1200" dirty="0">
                <a:solidFill>
                  <a:srgbClr val="F4FBFC"/>
                </a:solidFill>
                <a:latin typeface="Inter" pitchFamily="34" charset="0"/>
                <a:ea typeface="Inter" pitchFamily="34" charset="-122"/>
                <a:cs typeface="Inter" pitchFamily="34" charset="-120"/>
              </a:rPr>
              <a:t>N=1 generalization — a single data point presented as a systemic pattern</a:t>
            </a:r>
            <a:endParaRPr lang="en-US" sz="1200" dirty="0"/>
          </a:p>
          <a:p>
            <a:pPr marL="342900" indent="-342900">
              <a:buSzPct val="100000"/>
              <a:buChar char="●"/>
            </a:pPr>
            <a:r>
              <a:rPr lang="en-US" sz="1200" dirty="0">
                <a:solidFill>
                  <a:srgbClr val="F4FBFC"/>
                </a:solidFill>
                <a:latin typeface="Inter" pitchFamily="34" charset="0"/>
                <a:ea typeface="Inter" pitchFamily="34" charset="-122"/>
                <a:cs typeface="Inter" pitchFamily="34" charset="-120"/>
              </a:rPr>
              <a:t>Numbers are real, mechanisms are not — Claude finds a real number and invents an unverified explanation</a:t>
            </a:r>
            <a:endParaRPr lang="en-US" sz="1200" dirty="0"/>
          </a:p>
          <a:p>
            <a:pPr marL="342900" indent="-342900">
              <a:buSzPct val="100000"/>
              <a:buChar char="●"/>
            </a:pPr>
            <a:r>
              <a:rPr lang="en-US" sz="1200" dirty="0">
                <a:solidFill>
                  <a:srgbClr val="F4FBFC"/>
                </a:solidFill>
                <a:latin typeface="Inter" pitchFamily="34" charset="0"/>
                <a:ea typeface="Inter" pitchFamily="34" charset="-122"/>
                <a:cs typeface="Inter" pitchFamily="34" charset="-120"/>
              </a:rPr>
              <a:t>Internal contradictions — recommending X in one section while questioning X in another</a:t>
            </a:r>
            <a:endParaRPr lang="en-US" sz="1200" dirty="0"/>
          </a:p>
        </p:txBody>
      </p:sp>
      <p:sp>
        <p:nvSpPr>
          <p:cNvPr id="6" name="Text 4"/>
          <p:cNvSpPr/>
          <p:nvPr/>
        </p:nvSpPr>
        <p:spPr>
          <a:xfrm>
            <a:off x="548640" y="4069080"/>
            <a:ext cx="8046720" cy="502920"/>
          </a:xfrm>
          <a:prstGeom prst="rect">
            <a:avLst/>
          </a:prstGeom>
          <a:noFill/>
          <a:ln/>
        </p:spPr>
        <p:txBody>
          <a:bodyPr wrap="square" rtlCol="0" anchor="t"/>
          <a:lstStyle/>
          <a:p>
            <a:pPr indent="0" marL="0">
              <a:buNone/>
            </a:pPr>
            <a:r>
              <a:rPr lang="en-US" sz="1400" b="1" i="1" dirty="0">
                <a:solidFill>
                  <a:srgbClr val="35C2D6"/>
                </a:solidFill>
                <a:latin typeface="Inter" pitchFamily="34" charset="0"/>
                <a:ea typeface="Inter" pitchFamily="34" charset="-122"/>
                <a:cs typeface="Inter" pitchFamily="34" charset="-120"/>
              </a:rPr>
              <a:t>"The savings estimate is a vibe on top of an unverified premise."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sp>
        <p:nvSpPr>
          <p:cNvPr id="3" name="Text 1"/>
          <p:cNvSpPr/>
          <p:nvPr/>
        </p:nvSpPr>
        <p:spPr>
          <a:xfrm>
            <a:off x="548640" y="320040"/>
            <a:ext cx="8046720" cy="411480"/>
          </a:xfrm>
          <a:prstGeom prst="rect">
            <a:avLst/>
          </a:prstGeom>
          <a:noFill/>
          <a:ln/>
        </p:spPr>
        <p:txBody>
          <a:bodyPr wrap="square" rtlCol="0" anchor="t">
            <a:normAutofit/>
          </a:bodyPr>
          <a:lstStyle/>
          <a:p>
            <a:pPr indent="0" marL="0">
              <a:buNone/>
            </a:pPr>
            <a:r>
              <a:rPr lang="en-US" sz="2200" b="1" dirty="0">
                <a:solidFill>
                  <a:srgbClr val="35C2D6"/>
                </a:solidFill>
                <a:latin typeface="Inter" pitchFamily="34" charset="0"/>
                <a:ea typeface="Inter" pitchFamily="34" charset="-122"/>
                <a:cs typeface="Inter" pitchFamily="34" charset="-120"/>
              </a:rPr>
              <a:t>Fact-Free — Pattern + Three-Tier Response</a:t>
            </a:r>
            <a:endParaRPr lang="en-US" sz="2200" dirty="0"/>
          </a:p>
        </p:txBody>
      </p:sp>
      <p:sp>
        <p:nvSpPr>
          <p:cNvPr id="4" name="Text 2"/>
          <p:cNvSpPr/>
          <p:nvPr/>
        </p:nvSpPr>
        <p:spPr>
          <a:xfrm>
            <a:off x="548640" y="822960"/>
            <a:ext cx="8046720" cy="1554480"/>
          </a:xfrm>
          <a:prstGeom prst="rect">
            <a:avLst/>
          </a:prstGeom>
          <a:noFill/>
          <a:ln/>
        </p:spPr>
        <p:txBody>
          <a:bodyPr wrap="square" rtlCol="0" anchor="t"/>
          <a:lstStyle/>
          <a:p>
            <a:pPr marL="342900" indent="-342900">
              <a:buSzPct val="100000"/>
              <a:buChar char="●"/>
            </a:pPr>
            <a:r>
              <a:rPr lang="en-US" sz="1200" dirty="0">
                <a:solidFill>
                  <a:srgbClr val="F4FBFC"/>
                </a:solidFill>
                <a:latin typeface="Inter" pitchFamily="34" charset="0"/>
                <a:ea typeface="Inter" pitchFamily="34" charset="-122"/>
                <a:cs typeface="Inter" pitchFamily="34" charset="-120"/>
              </a:rPr>
              <a:t>What you see: Detailed analysis. Specific numbers. Confident recommendations.</a:t>
            </a:r>
            <a:endParaRPr lang="en-US" sz="1200" dirty="0"/>
          </a:p>
          <a:p>
            <a:pPr marL="342900" indent="-342900">
              <a:buSzPct val="100000"/>
              <a:buChar char="●"/>
            </a:pPr>
            <a:r>
              <a:rPr lang="en-US" sz="1200" dirty="0">
                <a:solidFill>
                  <a:srgbClr val="F4FBFC"/>
                </a:solidFill>
                <a:latin typeface="Inter" pitchFamily="34" charset="0"/>
                <a:ea typeface="Inter" pitchFamily="34" charset="-122"/>
                <a:cs typeface="Inter" pitchFamily="34" charset="-120"/>
              </a:rPr>
              <a:t>What is hiding: Unverified mechanism claims. N=1 generalizations. Hedge words load-bearing. Internal contradictions.</a:t>
            </a:r>
            <a:endParaRPr lang="en-US" sz="1200" dirty="0"/>
          </a:p>
          <a:p>
            <a:pPr marL="342900" indent="-342900">
              <a:buSzPct val="100000"/>
              <a:buChar char="●"/>
            </a:pPr>
            <a:r>
              <a:rPr lang="en-US" sz="1200" dirty="0">
                <a:solidFill>
                  <a:srgbClr val="F4FBFC"/>
                </a:solidFill>
                <a:latin typeface="Inter" pitchFamily="34" charset="0"/>
                <a:ea typeface="Inter" pitchFamily="34" charset="-122"/>
                <a:cs typeface="Inter" pitchFamily="34" charset="-120"/>
              </a:rPr>
              <a:t>Why it persists: Output reads like expert analysis. A human reviewer would accept the framing.</a:t>
            </a:r>
            <a:endParaRPr lang="en-US" sz="1200" dirty="0"/>
          </a:p>
        </p:txBody>
      </p:sp>
      <p:sp>
        <p:nvSpPr>
          <p:cNvPr id="5" name="Text 3"/>
          <p:cNvSpPr/>
          <p:nvPr/>
        </p:nvSpPr>
        <p:spPr>
          <a:xfrm>
            <a:off x="548640" y="2468880"/>
            <a:ext cx="8046720" cy="320040"/>
          </a:xfrm>
          <a:prstGeom prst="rect">
            <a:avLst/>
          </a:prstGeom>
          <a:noFill/>
          <a:ln/>
        </p:spPr>
        <p:txBody>
          <a:bodyPr wrap="square" rtlCol="0" anchor="t"/>
          <a:lstStyle/>
          <a:p>
            <a:pPr indent="0" marL="0">
              <a:buNone/>
            </a:pPr>
            <a:r>
              <a:rPr lang="en-US" sz="1400" b="1" dirty="0">
                <a:solidFill>
                  <a:srgbClr val="35C2D6"/>
                </a:solidFill>
                <a:latin typeface="Inter" pitchFamily="34" charset="0"/>
                <a:ea typeface="Inter" pitchFamily="34" charset="-122"/>
                <a:cs typeface="Inter" pitchFamily="34" charset="-120"/>
              </a:rPr>
              <a:t>How to Handle It — Three Tiers:</a:t>
            </a:r>
            <a:endParaRPr lang="en-US" sz="1400" dirty="0"/>
          </a:p>
        </p:txBody>
      </p:sp>
      <p:sp>
        <p:nvSpPr>
          <p:cNvPr id="6" name="Text 4"/>
          <p:cNvSpPr/>
          <p:nvPr/>
        </p:nvSpPr>
        <p:spPr>
          <a:xfrm>
            <a:off x="548640" y="2834640"/>
            <a:ext cx="8046720" cy="1737360"/>
          </a:xfrm>
          <a:prstGeom prst="rect">
            <a:avLst/>
          </a:prstGeom>
          <a:noFill/>
          <a:ln/>
        </p:spPr>
        <p:txBody>
          <a:bodyPr wrap="square" rtlCol="0" anchor="t"/>
          <a:lstStyle/>
          <a:p>
            <a:pPr marL="342900" indent="-342900">
              <a:buSzPct val="100000"/>
              <a:buChar char="●"/>
            </a:pPr>
            <a:r>
              <a:rPr lang="en-US" sz="1100" dirty="0">
                <a:solidFill>
                  <a:srgbClr val="8899AA"/>
                </a:solidFill>
                <a:latin typeface="Inter" pitchFamily="34" charset="0"/>
                <a:ea typeface="Inter" pitchFamily="34" charset="-122"/>
                <a:cs typeface="Inter" pitchFamily="34" charset="-120"/>
              </a:rPr>
              <a:t>Tier 1 — Better prompt: ask Claude to cite sources. "For each recommendation, cite the specific evidence you found."</a:t>
            </a:r>
            <a:endParaRPr lang="en-US" sz="1100" dirty="0"/>
          </a:p>
          <a:p>
            <a:pPr marL="342900" indent="-342900">
              <a:buSzPct val="100000"/>
              <a:buChar char="●"/>
            </a:pPr>
            <a:r>
              <a:rPr lang="en-US" sz="1100" dirty="0">
                <a:solidFill>
                  <a:srgbClr val="8899AA"/>
                </a:solidFill>
                <a:latin typeface="Inter" pitchFamily="34" charset="0"/>
                <a:ea typeface="Inter" pitchFamily="34" charset="-122"/>
                <a:cs typeface="Inter" pitchFamily="34" charset="-120"/>
              </a:rPr>
              <a:t>Tier 2 — Engage with output: when you see "appears," "likely," "suggests" — stop and ask: verified or guessed?</a:t>
            </a:r>
            <a:endParaRPr lang="en-US" sz="1100" dirty="0"/>
          </a:p>
          <a:p>
            <a:pPr marL="342900" indent="-342900">
              <a:buSzPct val="100000"/>
              <a:buChar char="●"/>
            </a:pPr>
            <a:r>
              <a:rPr lang="en-US" sz="1100" dirty="0">
                <a:solidFill>
                  <a:srgbClr val="8899AA"/>
                </a:solidFill>
                <a:latin typeface="Inter" pitchFamily="34" charset="0"/>
                <a:ea typeface="Inter" pitchFamily="34" charset="-122"/>
                <a:cs typeface="Inter" pitchFamily="34" charset="-120"/>
              </a:rPr>
              <a:t>Tier 3 — Phased task: (1) gather data, raw findings only; (2) you review, note thin spots; (3) produce analysis, flag evidence strength; (4) review analysis against data before accepting.</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sp>
        <p:nvSpPr>
          <p:cNvPr id="3" name="Text 1"/>
          <p:cNvSpPr/>
          <p:nvPr/>
        </p:nvSpPr>
        <p:spPr>
          <a:xfrm>
            <a:off x="548640" y="365760"/>
            <a:ext cx="6858000" cy="457200"/>
          </a:xfrm>
          <a:prstGeom prst="rect">
            <a:avLst/>
          </a:prstGeom>
          <a:noFill/>
          <a:ln/>
        </p:spPr>
        <p:txBody>
          <a:bodyPr wrap="square" rtlCol="0" anchor="t">
            <a:normAutofit/>
          </a:bodyPr>
          <a:lstStyle/>
          <a:p>
            <a:pPr indent="0" marL="0">
              <a:buNone/>
            </a:pPr>
            <a:r>
              <a:rPr lang="en-US" sz="2400" b="1" dirty="0">
                <a:solidFill>
                  <a:srgbClr val="35C2D6"/>
                </a:solidFill>
                <a:latin typeface="Inter" pitchFamily="34" charset="0"/>
                <a:ea typeface="Inter" pitchFamily="34" charset="-122"/>
                <a:cs typeface="Inter" pitchFamily="34" charset="-120"/>
              </a:rPr>
              <a:t>Session Parallelism</a:t>
            </a:r>
            <a:endParaRPr lang="en-US" sz="2400" dirty="0"/>
          </a:p>
        </p:txBody>
      </p:sp>
      <p:pic>
        <p:nvPicPr>
          <p:cNvPr id="4" name="Image 0" descr="/home/fanderman/projects/luigis-box/presentations/assets/icons/master-deck/together.png">    </p:cNvPr>
          <p:cNvPicPr>
            <a:picLocks noChangeAspect="1"/>
          </p:cNvPicPr>
          <p:nvPr/>
        </p:nvPicPr>
        <p:blipFill>
          <a:blip r:embed="rId2"/>
          <a:stretch>
            <a:fillRect/>
          </a:stretch>
        </p:blipFill>
        <p:spPr>
          <a:xfrm>
            <a:off x="7589520" y="365760"/>
            <a:ext cx="457200" cy="457200"/>
          </a:xfrm>
          <a:prstGeom prst="rect">
            <a:avLst/>
          </a:prstGeom>
        </p:spPr>
      </p:pic>
      <p:sp>
        <p:nvSpPr>
          <p:cNvPr id="5" name="Text 2"/>
          <p:cNvSpPr/>
          <p:nvPr/>
        </p:nvSpPr>
        <p:spPr>
          <a:xfrm>
            <a:off x="548640" y="960120"/>
            <a:ext cx="8046720" cy="457200"/>
          </a:xfrm>
          <a:prstGeom prst="rect">
            <a:avLst/>
          </a:prstGeom>
          <a:noFill/>
          <a:ln/>
        </p:spPr>
        <p:txBody>
          <a:bodyPr wrap="square" rtlCol="0" anchor="t"/>
          <a:lstStyle/>
          <a:p>
            <a:pPr indent="0" marL="0">
              <a:buNone/>
            </a:pPr>
            <a:r>
              <a:rPr lang="en-US" sz="1400" b="1" dirty="0">
                <a:solidFill>
                  <a:srgbClr val="35C2D6"/>
                </a:solidFill>
                <a:latin typeface="Inter" pitchFamily="34" charset="0"/>
                <a:ea typeface="Inter" pitchFamily="34" charset="-122"/>
                <a:cs typeface="Inter" pitchFamily="34" charset="-120"/>
              </a:rPr>
              <a:t>One Claude session is powerful. Multiple sessions in parallel is a force multiplier.</a:t>
            </a:r>
            <a:endParaRPr lang="en-US" sz="1400" dirty="0"/>
          </a:p>
        </p:txBody>
      </p:sp>
      <p:sp>
        <p:nvSpPr>
          <p:cNvPr id="6" name="Text 3"/>
          <p:cNvSpPr/>
          <p:nvPr/>
        </p:nvSpPr>
        <p:spPr>
          <a:xfrm>
            <a:off x="548640" y="1508760"/>
            <a:ext cx="8046720" cy="365760"/>
          </a:xfrm>
          <a:prstGeom prst="rect">
            <a:avLst/>
          </a:prstGeom>
          <a:noFill/>
          <a:ln/>
        </p:spPr>
        <p:txBody>
          <a:bodyPr wrap="square" rtlCol="0" anchor="t"/>
          <a:lstStyle/>
          <a:p>
            <a:pPr indent="0" marL="0">
              <a:buNone/>
            </a:pPr>
            <a:r>
              <a:rPr lang="en-US" sz="1200" dirty="0">
                <a:solidFill>
                  <a:srgbClr val="F4FBFC"/>
                </a:solidFill>
                <a:latin typeface="Inter" pitchFamily="34" charset="0"/>
                <a:ea typeface="Inter" pitchFamily="34" charset="-122"/>
                <a:cs typeface="Inter" pitchFamily="34" charset="-120"/>
              </a:rPr>
              <a:t>Claude Code sessions are fully independent — separate context, separate history, no interference.</a:t>
            </a:r>
            <a:endParaRPr lang="en-US" sz="1200" dirty="0"/>
          </a:p>
        </p:txBody>
      </p:sp>
      <p:sp>
        <p:nvSpPr>
          <p:cNvPr id="7" name="Text 4"/>
          <p:cNvSpPr/>
          <p:nvPr/>
        </p:nvSpPr>
        <p:spPr>
          <a:xfrm>
            <a:off x="548640" y="1965960"/>
            <a:ext cx="8046720" cy="960120"/>
          </a:xfrm>
          <a:prstGeom prst="rect">
            <a:avLst/>
          </a:prstGeom>
          <a:noFill/>
          <a:ln/>
        </p:spPr>
        <p:txBody>
          <a:bodyPr wrap="square" rtlCol="0" anchor="t"/>
          <a:lstStyle/>
          <a:p>
            <a:pPr marL="342900" indent="-342900">
              <a:buSzPct val="100000"/>
              <a:buChar char="●"/>
            </a:pPr>
            <a:r>
              <a:rPr lang="en-US" sz="1200" dirty="0">
                <a:solidFill>
                  <a:srgbClr val="F4FBFC"/>
                </a:solidFill>
                <a:latin typeface="Inter" pitchFamily="34" charset="0"/>
                <a:ea typeface="Inter" pitchFamily="34" charset="-122"/>
                <a:cs typeface="Inter" pitchFamily="34" charset="-120"/>
              </a:rPr>
              <a:t>Different tasks in the same repo at the same time</a:t>
            </a:r>
            <a:endParaRPr lang="en-US" sz="1200" dirty="0"/>
          </a:p>
          <a:p>
            <a:pPr marL="342900" indent="-342900">
              <a:buSzPct val="100000"/>
              <a:buChar char="●"/>
            </a:pPr>
            <a:r>
              <a:rPr lang="en-US" sz="1200" dirty="0">
                <a:solidFill>
                  <a:srgbClr val="F4FBFC"/>
                </a:solidFill>
                <a:latin typeface="Inter" pitchFamily="34" charset="0"/>
                <a:ea typeface="Inter" pitchFamily="34" charset="-122"/>
                <a:cs typeface="Inter" pitchFamily="34" charset="-120"/>
              </a:rPr>
              <a:t>Different repos simultaneously</a:t>
            </a:r>
            <a:endParaRPr lang="en-US" sz="1200" dirty="0"/>
          </a:p>
          <a:p>
            <a:pPr marL="342900" indent="-342900">
              <a:buSzPct val="100000"/>
              <a:buChar char="●"/>
            </a:pPr>
            <a:r>
              <a:rPr lang="en-US" sz="1200" dirty="0">
                <a:solidFill>
                  <a:srgbClr val="F4FBFC"/>
                </a:solidFill>
                <a:latin typeface="Inter" pitchFamily="34" charset="0"/>
                <a:ea typeface="Inter" pitchFamily="34" charset="-122"/>
                <a:cs typeface="Inter" pitchFamily="34" charset="-120"/>
              </a:rPr>
              <a:t>Exploration in one session while another implements</a:t>
            </a:r>
            <a:endParaRPr lang="en-US" sz="1200" dirty="0"/>
          </a:p>
        </p:txBody>
      </p:sp>
      <p:sp>
        <p:nvSpPr>
          <p:cNvPr id="8" name="Text 5"/>
          <p:cNvSpPr/>
          <p:nvPr/>
        </p:nvSpPr>
        <p:spPr>
          <a:xfrm>
            <a:off x="548640" y="2971800"/>
            <a:ext cx="8046720" cy="411480"/>
          </a:xfrm>
          <a:prstGeom prst="rect">
            <a:avLst/>
          </a:prstGeom>
          <a:noFill/>
          <a:ln/>
        </p:spPr>
        <p:txBody>
          <a:bodyPr wrap="square" rtlCol="0" anchor="t"/>
          <a:lstStyle/>
          <a:p>
            <a:pPr indent="0" marL="0">
              <a:buNone/>
            </a:pPr>
            <a:r>
              <a:rPr lang="en-US" sz="1200" i="1" dirty="0">
                <a:solidFill>
                  <a:srgbClr val="8899AA"/>
                </a:solidFill>
                <a:latin typeface="Inter" pitchFamily="34" charset="0"/>
                <a:ea typeface="Inter" pitchFamily="34" charset="-122"/>
                <a:cs typeface="Inter" pitchFamily="34" charset="-120"/>
              </a:rPr>
              <a:t>Concrete example: right now I run 7 concurrent Claude Code sessions — different tasks, sometimes different repos.</a:t>
            </a:r>
            <a:endParaRPr lang="en-US" sz="1200" dirty="0"/>
          </a:p>
        </p:txBody>
      </p:sp>
      <p:sp>
        <p:nvSpPr>
          <p:cNvPr id="9" name="Text 6"/>
          <p:cNvSpPr/>
          <p:nvPr/>
        </p:nvSpPr>
        <p:spPr>
          <a:xfrm>
            <a:off x="548640" y="3474720"/>
            <a:ext cx="8046720" cy="320040"/>
          </a:xfrm>
          <a:prstGeom prst="rect">
            <a:avLst/>
          </a:prstGeom>
          <a:noFill/>
          <a:ln/>
        </p:spPr>
        <p:txBody>
          <a:bodyPr wrap="square" rtlCol="0" anchor="t"/>
          <a:lstStyle/>
          <a:p>
            <a:pPr indent="0" marL="0">
              <a:buNone/>
            </a:pPr>
            <a:r>
              <a:rPr lang="en-US" sz="1300" b="1" dirty="0">
                <a:solidFill>
                  <a:srgbClr val="35C2D6"/>
                </a:solidFill>
                <a:latin typeface="Inter" pitchFamily="34" charset="0"/>
                <a:ea typeface="Inter" pitchFamily="34" charset="-122"/>
                <a:cs typeface="Inter" pitchFamily="34" charset="-120"/>
              </a:rPr>
              <a:t>For the hackathon — try it with two:</a:t>
            </a:r>
            <a:endParaRPr lang="en-US" sz="1300" dirty="0"/>
          </a:p>
        </p:txBody>
      </p:sp>
      <p:sp>
        <p:nvSpPr>
          <p:cNvPr id="10" name="Text 7"/>
          <p:cNvSpPr/>
          <p:nvPr/>
        </p:nvSpPr>
        <p:spPr>
          <a:xfrm>
            <a:off x="1097280" y="3840480"/>
            <a:ext cx="6858000" cy="777240"/>
          </a:xfrm>
          <a:prstGeom prst="rect">
            <a:avLst/>
          </a:prstGeom>
          <a:noFill/>
          <a:ln/>
        </p:spPr>
        <p:txBody>
          <a:bodyPr wrap="square" rtlCol="0" anchor="t"/>
          <a:lstStyle/>
          <a:p>
            <a:pPr marL="342900" indent="-342900">
              <a:buSzPct val="100000"/>
              <a:buChar char="●"/>
            </a:pPr>
            <a:r>
              <a:rPr lang="en-US" sz="1200" dirty="0">
                <a:solidFill>
                  <a:srgbClr val="F4FBFC"/>
                </a:solidFill>
                <a:latin typeface="Inter" pitchFamily="34" charset="0"/>
                <a:ea typeface="Inter" pitchFamily="34" charset="-122"/>
                <a:cs typeface="Inter" pitchFamily="34" charset="-120"/>
              </a:rPr>
              <a:t>Session A: work on the feature</a:t>
            </a:r>
            <a:endParaRPr lang="en-US" sz="1200" dirty="0"/>
          </a:p>
          <a:p>
            <a:pPr marL="342900" indent="-342900">
              <a:buSzPct val="100000"/>
              <a:buChar char="●"/>
            </a:pPr>
            <a:r>
              <a:rPr lang="en-US" sz="1200" dirty="0">
                <a:solidFill>
                  <a:srgbClr val="F4FBFC"/>
                </a:solidFill>
                <a:latin typeface="Inter" pitchFamily="34" charset="0"/>
                <a:ea typeface="Inter" pitchFamily="34" charset="-122"/>
                <a:cs typeface="Inter" pitchFamily="34" charset="-120"/>
              </a:rPr>
              <a:t>Session B: write tests or explore the codebase in parallel</a:t>
            </a:r>
            <a:endParaRPr lang="en-US" sz="1200" dirty="0"/>
          </a:p>
          <a:p>
            <a:pPr marL="342900" indent="-342900">
              <a:buSzPct val="100000"/>
              <a:buChar char="●"/>
            </a:pPr>
            <a:r>
              <a:rPr lang="en-US" sz="1200" dirty="0">
                <a:solidFill>
                  <a:srgbClr val="F4FBFC"/>
                </a:solidFill>
                <a:latin typeface="Inter" pitchFamily="34" charset="0"/>
                <a:ea typeface="Inter" pitchFamily="34" charset="-122"/>
                <a:cs typeface="Inter" pitchFamily="34" charset="-120"/>
              </a:rPr>
              <a:t>Neither blocks the other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sp>
        <p:nvSpPr>
          <p:cNvPr id="3" name="Text 1"/>
          <p:cNvSpPr/>
          <p:nvPr/>
        </p:nvSpPr>
        <p:spPr>
          <a:xfrm>
            <a:off x="548640" y="365760"/>
            <a:ext cx="8046720" cy="457200"/>
          </a:xfrm>
          <a:prstGeom prst="rect">
            <a:avLst/>
          </a:prstGeom>
          <a:noFill/>
          <a:ln/>
        </p:spPr>
        <p:txBody>
          <a:bodyPr wrap="square" rtlCol="0" anchor="t">
            <a:normAutofit/>
          </a:bodyPr>
          <a:lstStyle/>
          <a:p>
            <a:pPr indent="0" marL="0">
              <a:buNone/>
            </a:pPr>
            <a:r>
              <a:rPr lang="en-US" sz="2400" b="1" dirty="0">
                <a:solidFill>
                  <a:srgbClr val="35C2D6"/>
                </a:solidFill>
                <a:latin typeface="Inter" pitchFamily="34" charset="0"/>
                <a:ea typeface="Inter" pitchFamily="34" charset="-122"/>
                <a:cs typeface="Inter" pitchFamily="34" charset="-120"/>
              </a:rPr>
              <a:t>Multi-Agent Orchestration</a:t>
            </a:r>
            <a:endParaRPr lang="en-US" sz="2400" dirty="0"/>
          </a:p>
        </p:txBody>
      </p:sp>
      <p:sp>
        <p:nvSpPr>
          <p:cNvPr id="4" name="Text 2"/>
          <p:cNvSpPr/>
          <p:nvPr/>
        </p:nvSpPr>
        <p:spPr>
          <a:xfrm>
            <a:off x="548640" y="960120"/>
            <a:ext cx="8046720" cy="502920"/>
          </a:xfrm>
          <a:prstGeom prst="rect">
            <a:avLst/>
          </a:prstGeom>
          <a:noFill/>
          <a:ln/>
        </p:spPr>
        <p:txBody>
          <a:bodyPr wrap="square" rtlCol="0" anchor="t"/>
          <a:lstStyle/>
          <a:p>
            <a:pPr indent="0" marL="0">
              <a:buNone/>
            </a:pPr>
            <a:r>
              <a:rPr lang="en-US" sz="1400" b="1" dirty="0">
                <a:solidFill>
                  <a:srgbClr val="35C2D6"/>
                </a:solidFill>
                <a:latin typeface="Inter" pitchFamily="34" charset="0"/>
                <a:ea typeface="Inter" pitchFamily="34" charset="-122"/>
                <a:cs typeface="Inter" pitchFamily="34" charset="-120"/>
              </a:rPr>
              <a:t>Beyond parallel sessions doing independent tasks: agents that cooperate.</a:t>
            </a:r>
            <a:endParaRPr lang="en-US" sz="1400" dirty="0"/>
          </a:p>
        </p:txBody>
      </p:sp>
      <p:sp>
        <p:nvSpPr>
          <p:cNvPr id="5" name="Text 3"/>
          <p:cNvSpPr/>
          <p:nvPr/>
        </p:nvSpPr>
        <p:spPr>
          <a:xfrm>
            <a:off x="548640" y="1600200"/>
            <a:ext cx="8046720" cy="502920"/>
          </a:xfrm>
          <a:prstGeom prst="rect">
            <a:avLst/>
          </a:prstGeom>
          <a:noFill/>
          <a:ln/>
        </p:spPr>
        <p:txBody>
          <a:bodyPr wrap="square" rtlCol="0" anchor="t"/>
          <a:lstStyle/>
          <a:p>
            <a:pPr indent="0" marL="0">
              <a:buNone/>
            </a:pPr>
            <a:r>
              <a:rPr lang="en-US" sz="1300" dirty="0">
                <a:solidFill>
                  <a:srgbClr val="F4FBFC"/>
                </a:solidFill>
                <a:latin typeface="Inter" pitchFamily="34" charset="0"/>
                <a:ea typeface="Inter" pitchFamily="34" charset="-122"/>
                <a:cs typeface="Inter" pitchFamily="34" charset="-120"/>
              </a:rPr>
              <a:t>One agent writes. A separate agent reviews. Neither trusts the other's work — they check it.</a:t>
            </a:r>
            <a:endParaRPr lang="en-US" sz="1300" dirty="0"/>
          </a:p>
        </p:txBody>
      </p:sp>
      <p:sp>
        <p:nvSpPr>
          <p:cNvPr id="6" name="Text 4"/>
          <p:cNvSpPr/>
          <p:nvPr/>
        </p:nvSpPr>
        <p:spPr>
          <a:xfrm>
            <a:off x="548640" y="2240280"/>
            <a:ext cx="8046720" cy="914400"/>
          </a:xfrm>
          <a:prstGeom prst="rect">
            <a:avLst/>
          </a:prstGeom>
          <a:noFill/>
          <a:ln/>
        </p:spPr>
        <p:txBody>
          <a:bodyPr wrap="square" rtlCol="0" anchor="t"/>
          <a:lstStyle/>
          <a:p>
            <a:pPr indent="0" marL="0">
              <a:buNone/>
            </a:pPr>
            <a:r>
              <a:rPr lang="en-US" sz="1200" dirty="0">
                <a:solidFill>
                  <a:srgbClr val="8899AA"/>
                </a:solidFill>
                <a:latin typeface="Inter" pitchFamily="34" charset="0"/>
                <a:ea typeface="Inter" pitchFamily="34" charset="-122"/>
                <a:cs typeface="Inter" pitchFamily="34" charset="-120"/>
              </a:rPr>
              <a:t>The key principle: the reviewer has no context about why the coder made certain choices. It evaluates the output on its own merits. That independence catches a different class of problems than self-review.</a:t>
            </a:r>
            <a:endParaRPr lang="en-US" sz="1200" dirty="0"/>
          </a:p>
        </p:txBody>
      </p:sp>
      <p:sp>
        <p:nvSpPr>
          <p:cNvPr id="7" name="Text 5"/>
          <p:cNvSpPr/>
          <p:nvPr/>
        </p:nvSpPr>
        <p:spPr>
          <a:xfrm>
            <a:off x="548640" y="3291840"/>
            <a:ext cx="8046720" cy="548640"/>
          </a:xfrm>
          <a:prstGeom prst="rect">
            <a:avLst/>
          </a:prstGeom>
          <a:noFill/>
          <a:ln/>
        </p:spPr>
        <p:txBody>
          <a:bodyPr wrap="square" rtlCol="0" anchor="t"/>
          <a:lstStyle/>
          <a:p>
            <a:pPr indent="0" marL="0">
              <a:buNone/>
            </a:pPr>
            <a:r>
              <a:rPr lang="en-US" sz="1400" b="1" i="1" dirty="0">
                <a:solidFill>
                  <a:srgbClr val="35C2D6"/>
                </a:solidFill>
                <a:latin typeface="Inter" pitchFamily="34" charset="0"/>
                <a:ea typeface="Inter" pitchFamily="34" charset="-122"/>
                <a:cs typeface="Inter" pitchFamily="34" charset="-120"/>
              </a:rPr>
              <a:t>You do not need a framework to start. Two terminals, two roles, is already multi-agent.</a:t>
            </a:r>
            <a:endParaRPr lang="en-US" sz="1400" dirty="0"/>
          </a:p>
        </p:txBody>
      </p:sp>
      <p:sp>
        <p:nvSpPr>
          <p:cNvPr id="8" name="Text 6"/>
          <p:cNvSpPr/>
          <p:nvPr/>
        </p:nvSpPr>
        <p:spPr>
          <a:xfrm>
            <a:off x="548640" y="4023360"/>
            <a:ext cx="8046720" cy="274320"/>
          </a:xfrm>
          <a:prstGeom prst="rect">
            <a:avLst/>
          </a:prstGeom>
          <a:noFill/>
          <a:ln/>
        </p:spPr>
        <p:txBody>
          <a:bodyPr wrap="square" rtlCol="0" anchor="t">
            <a:normAutofit/>
          </a:bodyPr>
          <a:lstStyle/>
          <a:p>
            <a:pPr indent="0" marL="0">
              <a:buNone/>
            </a:pPr>
            <a:r>
              <a:rPr lang="en-US" sz="1100" i="1" dirty="0">
                <a:solidFill>
                  <a:srgbClr val="8899AA"/>
                </a:solidFill>
                <a:latin typeface="Inter" pitchFamily="34" charset="0"/>
                <a:ea typeface="Inter" pitchFamily="34" charset="-122"/>
                <a:cs typeface="Inter" pitchFamily="34" charset="-120"/>
              </a:rPr>
              <a:t>We use a version of this internally for our agent-product team work.</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pic>
        <p:nvPicPr>
          <p:cNvPr id="3" name="Image 0" descr="/home/fanderman/projects/luigis-box/presentations/assets/icon-color.png">    </p:cNvPr>
          <p:cNvPicPr>
            <a:picLocks noChangeAspect="1"/>
          </p:cNvPicPr>
          <p:nvPr/>
        </p:nvPicPr>
        <p:blipFill>
          <a:blip r:embed="rId1"/>
          <a:stretch>
            <a:fillRect/>
          </a:stretch>
        </p:blipFill>
        <p:spPr>
          <a:xfrm>
            <a:off x="8257032" y="566928"/>
            <a:ext cx="292608" cy="292608"/>
          </a:xfrm>
          <a:prstGeom prst="rect">
            <a:avLst/>
          </a:prstGeom>
        </p:spPr>
      </p:pic>
      <p:sp>
        <p:nvSpPr>
          <p:cNvPr id="4" name="Text 1"/>
          <p:cNvSpPr/>
          <p:nvPr/>
        </p:nvSpPr>
        <p:spPr>
          <a:xfrm>
            <a:off x="548640" y="320040"/>
            <a:ext cx="7635240" cy="365760"/>
          </a:xfrm>
          <a:prstGeom prst="rect">
            <a:avLst/>
          </a:prstGeom>
          <a:noFill/>
          <a:ln/>
        </p:spPr>
        <p:txBody>
          <a:bodyPr wrap="square" rtlCol="0" anchor="t">
            <a:normAutofit/>
          </a:bodyPr>
          <a:lstStyle/>
          <a:p>
            <a:pPr indent="0" marL="0">
              <a:buNone/>
            </a:pPr>
            <a:r>
              <a:rPr lang="en-US" sz="2400" b="1" dirty="0">
                <a:solidFill>
                  <a:srgbClr val="2DA1BA"/>
                </a:solidFill>
                <a:latin typeface="Inter" pitchFamily="34" charset="0"/>
                <a:ea typeface="Inter" pitchFamily="34" charset="-122"/>
                <a:cs typeface="Inter" pitchFamily="34" charset="-120"/>
              </a:rPr>
              <a:t>Coder + Reviewer Split</a:t>
            </a:r>
            <a:endParaRPr lang="en-US" sz="2400" dirty="0"/>
          </a:p>
        </p:txBody>
      </p:sp>
      <p:pic>
        <p:nvPicPr>
          <p:cNvPr id="5" name="Image 1" descr="/home/fanderman/projects/luigis-box/presentations/assets/icons/master-deck/code.png">    </p:cNvPr>
          <p:cNvPicPr>
            <a:picLocks noChangeAspect="1"/>
          </p:cNvPicPr>
          <p:nvPr/>
        </p:nvPicPr>
        <p:blipFill>
          <a:blip r:embed="rId2"/>
          <a:stretch>
            <a:fillRect/>
          </a:stretch>
        </p:blipFill>
        <p:spPr>
          <a:xfrm>
            <a:off x="548640" y="777240"/>
            <a:ext cx="393192" cy="393192"/>
          </a:xfrm>
          <a:prstGeom prst="rect">
            <a:avLst/>
          </a:prstGeom>
        </p:spPr>
      </p:pic>
      <p:sp>
        <p:nvSpPr>
          <p:cNvPr id="6" name="Text 2"/>
          <p:cNvSpPr/>
          <p:nvPr/>
        </p:nvSpPr>
        <p:spPr>
          <a:xfrm>
            <a:off x="1051560" y="795528"/>
            <a:ext cx="2743200" cy="365760"/>
          </a:xfrm>
          <a:prstGeom prst="rect">
            <a:avLst/>
          </a:prstGeom>
          <a:noFill/>
          <a:ln/>
        </p:spPr>
        <p:txBody>
          <a:bodyPr wrap="square" rtlCol="0" anchor="t"/>
          <a:lstStyle/>
          <a:p>
            <a:pPr indent="0" marL="0">
              <a:buNone/>
            </a:pPr>
            <a:r>
              <a:rPr lang="en-US" sz="1300" b="1" dirty="0">
                <a:solidFill>
                  <a:srgbClr val="2DA1BA"/>
                </a:solidFill>
                <a:latin typeface="Inter" pitchFamily="34" charset="0"/>
                <a:ea typeface="Inter" pitchFamily="34" charset="-122"/>
                <a:cs typeface="Inter" pitchFamily="34" charset="-120"/>
              </a:rPr>
              <a:t>Session A (Coder)</a:t>
            </a:r>
            <a:endParaRPr lang="en-US" sz="1300" dirty="0"/>
          </a:p>
        </p:txBody>
      </p:sp>
      <p:sp>
        <p:nvSpPr>
          <p:cNvPr id="7" name="Text 3"/>
          <p:cNvSpPr/>
          <p:nvPr/>
        </p:nvSpPr>
        <p:spPr>
          <a:xfrm>
            <a:off x="548640" y="1234440"/>
            <a:ext cx="8046720" cy="868680"/>
          </a:xfrm>
          <a:prstGeom prst="rect">
            <a:avLst/>
          </a:prstGeom>
          <a:noFill/>
          <a:ln/>
        </p:spPr>
        <p:txBody>
          <a:bodyPr wrap="square" rtlCol="0" anchor="t"/>
          <a:lstStyle/>
          <a:p>
            <a:pPr indent="0" marL="0">
              <a:buNone/>
            </a:pPr>
            <a:r>
              <a:rPr lang="en-US" sz="1200" i="1" dirty="0">
                <a:solidFill>
                  <a:srgbClr val="555555"/>
                </a:solidFill>
                <a:latin typeface="Inter" pitchFamily="34" charset="0"/>
                <a:ea typeface="Inter" pitchFamily="34" charset="-122"/>
                <a:cs typeface="Inter" pitchFamily="34" charset="-120"/>
              </a:rPr>
              <a:t>"Add input validation to the /users endpoint. Validate email format, required fields, string length limits. Write the code and the tests."</a:t>
            </a:r>
            <a:endParaRPr lang="en-US" sz="1200" dirty="0"/>
          </a:p>
        </p:txBody>
      </p:sp>
      <p:pic>
        <p:nvPicPr>
          <p:cNvPr id="8" name="Image 2" descr="/home/fanderman/projects/luigis-box/presentations/assets/icons/master-deck/eye.png">    </p:cNvPr>
          <p:cNvPicPr>
            <a:picLocks noChangeAspect="1"/>
          </p:cNvPicPr>
          <p:nvPr/>
        </p:nvPicPr>
        <p:blipFill>
          <a:blip r:embed="rId3"/>
          <a:stretch>
            <a:fillRect/>
          </a:stretch>
        </p:blipFill>
        <p:spPr>
          <a:xfrm>
            <a:off x="548640" y="2331720"/>
            <a:ext cx="393192" cy="393192"/>
          </a:xfrm>
          <a:prstGeom prst="rect">
            <a:avLst/>
          </a:prstGeom>
        </p:spPr>
      </p:pic>
      <p:sp>
        <p:nvSpPr>
          <p:cNvPr id="9" name="Text 4"/>
          <p:cNvSpPr/>
          <p:nvPr/>
        </p:nvSpPr>
        <p:spPr>
          <a:xfrm>
            <a:off x="1051560" y="2350008"/>
            <a:ext cx="2743200" cy="365760"/>
          </a:xfrm>
          <a:prstGeom prst="rect">
            <a:avLst/>
          </a:prstGeom>
          <a:noFill/>
          <a:ln/>
        </p:spPr>
        <p:txBody>
          <a:bodyPr wrap="square" rtlCol="0" anchor="t"/>
          <a:lstStyle/>
          <a:p>
            <a:pPr indent="0" marL="0">
              <a:buNone/>
            </a:pPr>
            <a:r>
              <a:rPr lang="en-US" sz="1300" b="1" dirty="0">
                <a:solidFill>
                  <a:srgbClr val="2DA1BA"/>
                </a:solidFill>
                <a:latin typeface="Inter" pitchFamily="34" charset="0"/>
                <a:ea typeface="Inter" pitchFamily="34" charset="-122"/>
                <a:cs typeface="Inter" pitchFamily="34" charset="-120"/>
              </a:rPr>
              <a:t>Session B (Reviewer)</a:t>
            </a:r>
            <a:endParaRPr lang="en-US" sz="1300" dirty="0"/>
          </a:p>
        </p:txBody>
      </p:sp>
      <p:sp>
        <p:nvSpPr>
          <p:cNvPr id="10" name="Text 5"/>
          <p:cNvSpPr/>
          <p:nvPr/>
        </p:nvSpPr>
        <p:spPr>
          <a:xfrm>
            <a:off x="548640" y="2788920"/>
            <a:ext cx="8046720" cy="914400"/>
          </a:xfrm>
          <a:prstGeom prst="rect">
            <a:avLst/>
          </a:prstGeom>
          <a:noFill/>
          <a:ln/>
        </p:spPr>
        <p:txBody>
          <a:bodyPr wrap="square" rtlCol="0" anchor="t"/>
          <a:lstStyle/>
          <a:p>
            <a:pPr indent="0" marL="0">
              <a:buNone/>
            </a:pPr>
            <a:r>
              <a:rPr lang="en-US" sz="1200" i="1" dirty="0">
                <a:solidFill>
                  <a:srgbClr val="555555"/>
                </a:solidFill>
                <a:latin typeface="Inter" pitchFamily="34" charset="0"/>
                <a:ea typeface="Inter" pitchFamily="34" charset="-122"/>
                <a:cs typeface="Inter" pitchFamily="34" charset="-120"/>
              </a:rPr>
              <a:t>"Review the validation code in [file]. Check: are all edge cases covered? Are error messages helpful? Are there any bypass paths? What did the coder miss?"</a:t>
            </a:r>
            <a:endParaRPr lang="en-US" sz="1200" dirty="0"/>
          </a:p>
        </p:txBody>
      </p:sp>
      <p:sp>
        <p:nvSpPr>
          <p:cNvPr id="11" name="Text 6"/>
          <p:cNvSpPr/>
          <p:nvPr/>
        </p:nvSpPr>
        <p:spPr>
          <a:xfrm>
            <a:off x="548640" y="3886200"/>
            <a:ext cx="8046720" cy="685800"/>
          </a:xfrm>
          <a:prstGeom prst="rect">
            <a:avLst/>
          </a:prstGeom>
          <a:noFill/>
          <a:ln/>
        </p:spPr>
        <p:txBody>
          <a:bodyPr wrap="square" rtlCol="0" anchor="t"/>
          <a:lstStyle/>
          <a:p>
            <a:pPr indent="0" marL="0">
              <a:buNone/>
            </a:pPr>
            <a:r>
              <a:rPr lang="en-US" sz="1200" b="1" i="1" dirty="0">
                <a:solidFill>
                  <a:srgbClr val="2DA1BA"/>
                </a:solidFill>
                <a:latin typeface="Inter" pitchFamily="34" charset="0"/>
                <a:ea typeface="Inter" pitchFamily="34" charset="-122"/>
                <a:cs typeface="Inter" pitchFamily="34" charset="-120"/>
              </a:rPr>
              <a:t>"The reviewer has no investment in making the code look good. That independence is the whole point."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pic>
        <p:nvPicPr>
          <p:cNvPr id="3" name="Image 0" descr="/home/fanderman/projects/luigis-box/presentations/assets/icon-color.png">    </p:cNvPr>
          <p:cNvPicPr>
            <a:picLocks noChangeAspect="1"/>
          </p:cNvPicPr>
          <p:nvPr/>
        </p:nvPicPr>
        <p:blipFill>
          <a:blip r:embed="rId1"/>
          <a:stretch>
            <a:fillRect/>
          </a:stretch>
        </p:blipFill>
        <p:spPr>
          <a:xfrm>
            <a:off x="8257032" y="566928"/>
            <a:ext cx="292608" cy="292608"/>
          </a:xfrm>
          <a:prstGeom prst="rect">
            <a:avLst/>
          </a:prstGeom>
        </p:spPr>
      </p:pic>
      <p:sp>
        <p:nvSpPr>
          <p:cNvPr id="4" name="Text 1"/>
          <p:cNvSpPr/>
          <p:nvPr/>
        </p:nvSpPr>
        <p:spPr>
          <a:xfrm>
            <a:off x="548640" y="365760"/>
            <a:ext cx="7635240" cy="365760"/>
          </a:xfrm>
          <a:prstGeom prst="rect">
            <a:avLst/>
          </a:prstGeom>
          <a:noFill/>
          <a:ln/>
        </p:spPr>
        <p:txBody>
          <a:bodyPr wrap="square" rtlCol="0" anchor="t">
            <a:normAutofit/>
          </a:bodyPr>
          <a:lstStyle/>
          <a:p>
            <a:pPr indent="0" marL="0">
              <a:buNone/>
            </a:pPr>
            <a:r>
              <a:rPr lang="en-US" sz="2400" b="1" dirty="0">
                <a:solidFill>
                  <a:srgbClr val="2DA1BA"/>
                </a:solidFill>
                <a:latin typeface="Inter" pitchFamily="34" charset="0"/>
                <a:ea typeface="Inter" pitchFamily="34" charset="-122"/>
                <a:cs typeface="Inter" pitchFamily="34" charset="-120"/>
              </a:rPr>
              <a:t>Your First 10 Minutes</a:t>
            </a:r>
            <a:endParaRPr lang="en-US" sz="2400" dirty="0"/>
          </a:p>
        </p:txBody>
      </p:sp>
      <p:sp>
        <p:nvSpPr>
          <p:cNvPr id="5" name="Text 2"/>
          <p:cNvSpPr/>
          <p:nvPr/>
        </p:nvSpPr>
        <p:spPr>
          <a:xfrm>
            <a:off x="548640" y="822960"/>
            <a:ext cx="7635240" cy="320040"/>
          </a:xfrm>
          <a:prstGeom prst="rect">
            <a:avLst/>
          </a:prstGeom>
          <a:noFill/>
          <a:ln/>
        </p:spPr>
        <p:txBody>
          <a:bodyPr wrap="square" rtlCol="0" anchor="t"/>
          <a:lstStyle/>
          <a:p>
            <a:pPr indent="0" marL="0">
              <a:buNone/>
            </a:pPr>
            <a:r>
              <a:rPr lang="en-US" sz="1300" i="1" dirty="0">
                <a:solidFill>
                  <a:srgbClr val="555555"/>
                </a:solidFill>
                <a:latin typeface="Inter" pitchFamily="34" charset="0"/>
                <a:ea typeface="Inter" pitchFamily="34" charset="-122"/>
                <a:cs typeface="Inter" pitchFamily="34" charset="-120"/>
              </a:rPr>
              <a:t>Before we scatter — here is exactly what to do.</a:t>
            </a:r>
            <a:endParaRPr lang="en-US" sz="1300" dirty="0"/>
          </a:p>
        </p:txBody>
      </p:sp>
      <p:sp>
        <p:nvSpPr>
          <p:cNvPr id="6" name="Shape 3"/>
          <p:cNvSpPr/>
          <p:nvPr/>
        </p:nvSpPr>
        <p:spPr>
          <a:xfrm>
            <a:off x="576072" y="1207008"/>
            <a:ext cx="7973568" cy="1536192"/>
          </a:xfrm>
          <a:prstGeom prst="roundRect">
            <a:avLst>
              <a:gd name="adj" fmla="val 4762"/>
            </a:avLst>
          </a:prstGeom>
          <a:solidFill>
            <a:srgbClr val="E5F8FA"/>
          </a:solidFill>
          <a:ln/>
        </p:spPr>
      </p:sp>
      <p:sp>
        <p:nvSpPr>
          <p:cNvPr id="7" name="Text 4"/>
          <p:cNvSpPr/>
          <p:nvPr/>
        </p:nvSpPr>
        <p:spPr>
          <a:xfrm>
            <a:off x="667512" y="1316736"/>
            <a:ext cx="7790688" cy="274320"/>
          </a:xfrm>
          <a:prstGeom prst="rect">
            <a:avLst/>
          </a:prstGeom>
          <a:noFill/>
          <a:ln/>
        </p:spPr>
        <p:txBody>
          <a:bodyPr wrap="square" rtlCol="0" anchor="t">
            <a:normAutofit/>
          </a:bodyPr>
          <a:lstStyle/>
          <a:p>
            <a:pPr indent="0" marL="0">
              <a:buNone/>
            </a:pPr>
            <a:r>
              <a:rPr lang="en-US" sz="1200" b="1" dirty="0">
                <a:solidFill>
                  <a:srgbClr val="0D0D0F"/>
                </a:solidFill>
                <a:latin typeface="Inter" pitchFamily="34" charset="0"/>
                <a:ea typeface="Inter" pitchFamily="34" charset="-122"/>
                <a:cs typeface="Inter" pitchFamily="34" charset="-120"/>
              </a:rPr>
              <a:t>Step 1: Get Claude oriented on your project.</a:t>
            </a:r>
            <a:endParaRPr lang="en-US" sz="1200" dirty="0"/>
          </a:p>
        </p:txBody>
      </p:sp>
      <p:sp>
        <p:nvSpPr>
          <p:cNvPr id="8" name="Text 5"/>
          <p:cNvSpPr/>
          <p:nvPr/>
        </p:nvSpPr>
        <p:spPr>
          <a:xfrm>
            <a:off x="667512" y="1664208"/>
            <a:ext cx="7790688" cy="256032"/>
          </a:xfrm>
          <a:prstGeom prst="rect">
            <a:avLst/>
          </a:prstGeom>
          <a:noFill/>
          <a:ln/>
        </p:spPr>
        <p:txBody>
          <a:bodyPr wrap="square" rtlCol="0" anchor="t">
            <a:normAutofit/>
          </a:bodyPr>
          <a:lstStyle/>
          <a:p>
            <a:pPr indent="0" marL="0">
              <a:buNone/>
            </a:pPr>
            <a:r>
              <a:rPr lang="en-US" sz="1100" dirty="0">
                <a:solidFill>
                  <a:srgbClr val="0D0D0F"/>
                </a:solidFill>
                <a:latin typeface="Inter" pitchFamily="34" charset="0"/>
                <a:ea typeface="Inter" pitchFamily="34" charset="-122"/>
                <a:cs typeface="Inter" pitchFamily="34" charset="-120"/>
              </a:rPr>
              <a:t>Ask: "Read this project. Suggest a CLAUDE.md — project purpose, build commands, constraints." Edit what it produces. Add one constraint that matters. CLAUDE.md loads every time Claude starts.</a:t>
            </a:r>
            <a:endParaRPr lang="en-US" sz="1100" dirty="0"/>
          </a:p>
        </p:txBody>
      </p:sp>
      <p:sp>
        <p:nvSpPr>
          <p:cNvPr id="9" name="Shape 6"/>
          <p:cNvSpPr/>
          <p:nvPr/>
        </p:nvSpPr>
        <p:spPr>
          <a:xfrm>
            <a:off x="576072" y="2971800"/>
            <a:ext cx="7973568" cy="1536192"/>
          </a:xfrm>
          <a:prstGeom prst="roundRect">
            <a:avLst>
              <a:gd name="adj" fmla="val 4762"/>
            </a:avLst>
          </a:prstGeom>
          <a:solidFill>
            <a:srgbClr val="E5F8FA"/>
          </a:solidFill>
          <a:ln/>
        </p:spPr>
      </p:sp>
      <p:sp>
        <p:nvSpPr>
          <p:cNvPr id="10" name="Text 7"/>
          <p:cNvSpPr/>
          <p:nvPr/>
        </p:nvSpPr>
        <p:spPr>
          <a:xfrm>
            <a:off x="667512" y="3081528"/>
            <a:ext cx="7790688" cy="274320"/>
          </a:xfrm>
          <a:prstGeom prst="rect">
            <a:avLst/>
          </a:prstGeom>
          <a:noFill/>
          <a:ln/>
        </p:spPr>
        <p:txBody>
          <a:bodyPr wrap="square" rtlCol="0" anchor="t">
            <a:normAutofit/>
          </a:bodyPr>
          <a:lstStyle/>
          <a:p>
            <a:pPr indent="0" marL="0">
              <a:buNone/>
            </a:pPr>
            <a:r>
              <a:rPr lang="en-US" sz="1200" b="1" dirty="0">
                <a:solidFill>
                  <a:srgbClr val="0D0D0F"/>
                </a:solidFill>
                <a:latin typeface="Inter" pitchFamily="34" charset="0"/>
                <a:ea typeface="Inter" pitchFamily="34" charset="-122"/>
                <a:cs typeface="Inter" pitchFamily="34" charset="-120"/>
              </a:rPr>
              <a:t>Step 2: Give it a real task with plan-first prompting.</a:t>
            </a:r>
            <a:endParaRPr lang="en-US" sz="1200" dirty="0"/>
          </a:p>
        </p:txBody>
      </p:sp>
      <p:sp>
        <p:nvSpPr>
          <p:cNvPr id="11" name="Text 8"/>
          <p:cNvSpPr/>
          <p:nvPr/>
        </p:nvSpPr>
        <p:spPr>
          <a:xfrm>
            <a:off x="667512" y="3429000"/>
            <a:ext cx="7790688" cy="256032"/>
          </a:xfrm>
          <a:prstGeom prst="rect">
            <a:avLst/>
          </a:prstGeom>
          <a:noFill/>
          <a:ln/>
        </p:spPr>
        <p:txBody>
          <a:bodyPr wrap="square" rtlCol="0" anchor="t">
            <a:normAutofit/>
          </a:bodyPr>
          <a:lstStyle/>
          <a:p>
            <a:pPr indent="0" marL="0">
              <a:buNone/>
            </a:pPr>
            <a:r>
              <a:rPr lang="en-US" sz="1100" dirty="0">
                <a:solidFill>
                  <a:srgbClr val="0D0D0F"/>
                </a:solidFill>
                <a:latin typeface="Inter" pitchFamily="34" charset="0"/>
                <a:ea typeface="Inter" pitchFamily="34" charset="-122"/>
                <a:cs typeface="Inter" pitchFamily="34" charset="-120"/>
              </a:rPr>
              <a:t>Before your first real task: "Before writing any code, make a plan: what files will you touch, what are the steps, what could go wrong? Wait for my go-ahead." Course-correct at the plan stage, not after.</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pic>
        <p:nvPicPr>
          <p:cNvPr id="3" name="Image 0" descr="/home/fanderman/projects/luigis-box/presentations/assets/logo-full-white.png">    </p:cNvPr>
          <p:cNvPicPr>
            <a:picLocks noChangeAspect="1"/>
          </p:cNvPicPr>
          <p:nvPr/>
        </p:nvPicPr>
        <p:blipFill>
          <a:blip r:embed="rId2"/>
          <a:stretch>
            <a:fillRect/>
          </a:stretch>
        </p:blipFill>
        <p:spPr>
          <a:xfrm>
            <a:off x="594360" y="566928"/>
            <a:ext cx="1325880" cy="448056"/>
          </a:xfrm>
          <a:prstGeom prst="rect">
            <a:avLst/>
          </a:prstGeom>
        </p:spPr>
      </p:pic>
      <p:sp>
        <p:nvSpPr>
          <p:cNvPr id="4" name="Text 1"/>
          <p:cNvSpPr/>
          <p:nvPr/>
        </p:nvSpPr>
        <p:spPr>
          <a:xfrm>
            <a:off x="5779008" y="475488"/>
            <a:ext cx="3017520" cy="274320"/>
          </a:xfrm>
          <a:prstGeom prst="rect">
            <a:avLst/>
          </a:prstGeom>
          <a:noFill/>
          <a:ln/>
        </p:spPr>
        <p:txBody>
          <a:bodyPr wrap="square" rtlCol="0" anchor="t"/>
          <a:lstStyle/>
          <a:p>
            <a:pPr algn="r" indent="0" marL="0">
              <a:buNone/>
            </a:pPr>
            <a:r>
              <a:rPr lang="en-US" sz="1100" b="1" dirty="0">
                <a:solidFill>
                  <a:srgbClr val="FFFFFF"/>
                </a:solidFill>
                <a:latin typeface="Inter" pitchFamily="34" charset="0"/>
                <a:ea typeface="Inter" pitchFamily="34" charset="-122"/>
                <a:cs typeface="Inter" pitchFamily="34" charset="-120"/>
              </a:rPr>
              <a:t>luigisbox.com</a:t>
            </a:r>
            <a:endParaRPr lang="en-US" sz="1100" dirty="0"/>
          </a:p>
        </p:txBody>
      </p:sp>
      <p:sp>
        <p:nvSpPr>
          <p:cNvPr id="5" name="Text 2"/>
          <p:cNvSpPr/>
          <p:nvPr/>
        </p:nvSpPr>
        <p:spPr>
          <a:xfrm>
            <a:off x="594360" y="1188720"/>
            <a:ext cx="7955280" cy="640080"/>
          </a:xfrm>
          <a:prstGeom prst="rect">
            <a:avLst/>
          </a:prstGeom>
          <a:noFill/>
          <a:ln/>
        </p:spPr>
        <p:txBody>
          <a:bodyPr wrap="square" rtlCol="0" anchor="t">
            <a:normAutofit/>
          </a:bodyPr>
          <a:lstStyle/>
          <a:p>
            <a:pPr indent="0" marL="0">
              <a:buNone/>
            </a:pPr>
            <a:r>
              <a:rPr lang="en-US" sz="4000" b="1" dirty="0">
                <a:solidFill>
                  <a:srgbClr val="FFFFFF"/>
                </a:solidFill>
                <a:latin typeface="Inter" pitchFamily="34" charset="0"/>
                <a:ea typeface="Inter" pitchFamily="34" charset="-122"/>
                <a:cs typeface="Inter" pitchFamily="34" charset="-120"/>
              </a:rPr>
              <a:t>Where These Patterns Scale</a:t>
            </a:r>
            <a:endParaRPr lang="en-US" sz="4000" dirty="0"/>
          </a:p>
        </p:txBody>
      </p:sp>
      <p:sp>
        <p:nvSpPr>
          <p:cNvPr id="6" name="Text 3"/>
          <p:cNvSpPr/>
          <p:nvPr/>
        </p:nvSpPr>
        <p:spPr>
          <a:xfrm>
            <a:off x="594360" y="2011680"/>
            <a:ext cx="7955280" cy="2468880"/>
          </a:xfrm>
          <a:prstGeom prst="rect">
            <a:avLst/>
          </a:prstGeom>
          <a:noFill/>
          <a:ln/>
        </p:spPr>
        <p:txBody>
          <a:bodyPr wrap="square" rtlCol="0" anchor="t"/>
          <a:lstStyle/>
          <a:p>
            <a:pPr indent="0" marL="0">
              <a:buNone/>
            </a:pPr>
            <a:r>
              <a:rPr lang="en-US" sz="1300" dirty="0">
                <a:solidFill>
                  <a:srgbClr val="F4FBFC"/>
                </a:solidFill>
                <a:latin typeface="Inter" pitchFamily="34" charset="0"/>
                <a:ea typeface="Inter" pitchFamily="34" charset="-122"/>
                <a:cs typeface="Inter" pitchFamily="34" charset="-120"/>
              </a:rPr>
              <a:t>Everything we covered today — better prompts, critical engagement, structured tasks, parallel and multi-agent workflows — scales further with tooling.</a:t>
            </a:r>
            <a:endParaRPr lang="en-US" sz="1300" dirty="0"/>
          </a:p>
          <a:p>
            <a:pPr indent="0" marL="0">
              <a:buNone/>
            </a:pPr>
            <a:endParaRPr lang="en-US" sz="1300" dirty="0"/>
          </a:p>
          <a:p>
            <a:pPr indent="0" marL="0">
              <a:buNone/>
            </a:pPr>
            <a:r>
              <a:rPr lang="en-US" sz="1300" dirty="0">
                <a:solidFill>
                  <a:srgbClr val="F4FBFC"/>
                </a:solidFill>
                <a:latin typeface="Inter" pitchFamily="34" charset="0"/>
                <a:ea typeface="Inter" pitchFamily="34" charset="-122"/>
                <a:cs typeface="Inter" pitchFamily="34" charset="-120"/>
              </a:rPr>
              <a:t>CLAUDE.md is the simplest form. Rule files add ambient constraints that fire automatically. Dedicated review steps add structured verification. At the far end: full multi-agent architectures where planning, implementation, review, and audit are handled by separate agents with opposing incentives.</a:t>
            </a:r>
            <a:endParaRPr lang="en-US" sz="1300" dirty="0"/>
          </a:p>
          <a:p>
            <a:pPr indent="0" marL="0">
              <a:buNone/>
            </a:pPr>
            <a:endParaRPr lang="en-US" sz="1300" dirty="0"/>
          </a:p>
          <a:p>
            <a:pPr indent="0" marL="0">
              <a:buNone/>
            </a:pPr>
            <a:r>
              <a:rPr lang="en-US" sz="1300" dirty="0">
                <a:solidFill>
                  <a:srgbClr val="F4FBFC"/>
                </a:solidFill>
                <a:latin typeface="Inter" pitchFamily="34" charset="0"/>
                <a:ea typeface="Inter" pitchFamily="34" charset="-122"/>
                <a:cs typeface="Inter" pitchFamily="34" charset="-120"/>
              </a:rPr>
              <a:t>That is what I run. But you do not need any of it to start being effective today. If you are curious, come talk to me.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576072" cy="45720"/>
          </a:xfrm>
          <a:prstGeom prst="rect">
            <a:avLst/>
          </a:prstGeom>
          <a:solidFill>
            <a:srgbClr val="35C2D6"/>
          </a:solidFill>
          <a:ln/>
        </p:spPr>
      </p:sp>
      <p:pic>
        <p:nvPicPr>
          <p:cNvPr id="3" name="Image 0" descr="/home/fanderman/projects/luigis-box/presentations/assets/logo-full-white.png">    </p:cNvPr>
          <p:cNvPicPr>
            <a:picLocks noChangeAspect="1"/>
          </p:cNvPicPr>
          <p:nvPr/>
        </p:nvPicPr>
        <p:blipFill>
          <a:blip r:embed="rId2"/>
          <a:stretch>
            <a:fillRect/>
          </a:stretch>
        </p:blipFill>
        <p:spPr>
          <a:xfrm>
            <a:off x="594360" y="566928"/>
            <a:ext cx="1325880" cy="448056"/>
          </a:xfrm>
          <a:prstGeom prst="rect">
            <a:avLst/>
          </a:prstGeom>
        </p:spPr>
      </p:pic>
      <p:sp>
        <p:nvSpPr>
          <p:cNvPr id="4" name="Text 1"/>
          <p:cNvSpPr/>
          <p:nvPr/>
        </p:nvSpPr>
        <p:spPr>
          <a:xfrm>
            <a:off x="5779008" y="475488"/>
            <a:ext cx="3017520" cy="274320"/>
          </a:xfrm>
          <a:prstGeom prst="rect">
            <a:avLst/>
          </a:prstGeom>
          <a:noFill/>
          <a:ln/>
        </p:spPr>
        <p:txBody>
          <a:bodyPr wrap="square" rtlCol="0" anchor="t"/>
          <a:lstStyle/>
          <a:p>
            <a:pPr algn="r" indent="0" marL="0">
              <a:buNone/>
            </a:pPr>
            <a:r>
              <a:rPr lang="en-US" sz="1100" b="1" dirty="0">
                <a:solidFill>
                  <a:srgbClr val="FFFFFF"/>
                </a:solidFill>
                <a:latin typeface="Inter" pitchFamily="34" charset="0"/>
                <a:ea typeface="Inter" pitchFamily="34" charset="-122"/>
                <a:cs typeface="Inter" pitchFamily="34" charset="-120"/>
              </a:rPr>
              <a:t>luigisbox.com</a:t>
            </a:r>
            <a:endParaRPr lang="en-US" sz="1100" dirty="0"/>
          </a:p>
        </p:txBody>
      </p:sp>
      <p:sp>
        <p:nvSpPr>
          <p:cNvPr id="5" name="Text 2"/>
          <p:cNvSpPr/>
          <p:nvPr/>
        </p:nvSpPr>
        <p:spPr>
          <a:xfrm>
            <a:off x="594360" y="1097280"/>
            <a:ext cx="7955280" cy="731520"/>
          </a:xfrm>
          <a:prstGeom prst="rect">
            <a:avLst/>
          </a:prstGeom>
          <a:noFill/>
          <a:ln/>
        </p:spPr>
        <p:txBody>
          <a:bodyPr wrap="square" rtlCol="0" anchor="t">
            <a:normAutofit/>
          </a:bodyPr>
          <a:lstStyle/>
          <a:p>
            <a:pPr algn="ctr" indent="0" marL="0">
              <a:buNone/>
            </a:pPr>
            <a:r>
              <a:rPr lang="en-US" sz="4500" b="1" dirty="0">
                <a:solidFill>
                  <a:srgbClr val="FFFFFF"/>
                </a:solidFill>
                <a:latin typeface="Inter" pitchFamily="34" charset="0"/>
                <a:ea typeface="Inter" pitchFamily="34" charset="-122"/>
                <a:cs typeface="Inter" pitchFamily="34" charset="-120"/>
              </a:rPr>
              <a:t>Q&amp;A</a:t>
            </a:r>
            <a:endParaRPr lang="en-US" sz="4500" dirty="0"/>
          </a:p>
        </p:txBody>
      </p:sp>
      <p:pic>
        <p:nvPicPr>
          <p:cNvPr id="6" name="Image 1" descr="/home/fanderman/projects/luigis-box/presentations/assets/icons/master-deck/question.png">    </p:cNvPr>
          <p:cNvPicPr>
            <a:picLocks noChangeAspect="1"/>
          </p:cNvPicPr>
          <p:nvPr/>
        </p:nvPicPr>
        <p:blipFill>
          <a:blip r:embed="rId3"/>
          <a:stretch>
            <a:fillRect/>
          </a:stretch>
        </p:blipFill>
        <p:spPr>
          <a:xfrm>
            <a:off x="4297680" y="1920240"/>
            <a:ext cx="548640" cy="548640"/>
          </a:xfrm>
          <a:prstGeom prst="rect">
            <a:avLst/>
          </a:prstGeom>
        </p:spPr>
      </p:pic>
      <p:sp>
        <p:nvSpPr>
          <p:cNvPr id="7" name="Text 3"/>
          <p:cNvSpPr/>
          <p:nvPr/>
        </p:nvSpPr>
        <p:spPr>
          <a:xfrm>
            <a:off x="548640" y="2651760"/>
            <a:ext cx="8046720" cy="274320"/>
          </a:xfrm>
          <a:prstGeom prst="rect">
            <a:avLst/>
          </a:prstGeom>
          <a:noFill/>
          <a:ln/>
        </p:spPr>
        <p:txBody>
          <a:bodyPr wrap="square" rtlCol="0" anchor="t"/>
          <a:lstStyle/>
          <a:p>
            <a:pPr indent="0" marL="0">
              <a:buNone/>
            </a:pPr>
            <a:r>
              <a:rPr lang="en-US" sz="1200" i="1" dirty="0">
                <a:solidFill>
                  <a:srgbClr val="8899AA"/>
                </a:solidFill>
                <a:latin typeface="Inter" pitchFamily="34" charset="0"/>
                <a:ea typeface="Inter" pitchFamily="34" charset="-122"/>
                <a:cs typeface="Inter" pitchFamily="34" charset="-120"/>
              </a:rPr>
              <a:t>Starter questions if the room is quiet:</a:t>
            </a:r>
            <a:endParaRPr lang="en-US" sz="1200" dirty="0"/>
          </a:p>
        </p:txBody>
      </p:sp>
      <p:sp>
        <p:nvSpPr>
          <p:cNvPr id="8" name="Text 4"/>
          <p:cNvSpPr/>
          <p:nvPr/>
        </p:nvSpPr>
        <p:spPr>
          <a:xfrm>
            <a:off x="548640" y="2971800"/>
            <a:ext cx="8046720" cy="1554480"/>
          </a:xfrm>
          <a:prstGeom prst="rect">
            <a:avLst/>
          </a:prstGeom>
          <a:noFill/>
          <a:ln/>
        </p:spPr>
        <p:txBody>
          <a:bodyPr wrap="square" rtlCol="0" anchor="t"/>
          <a:lstStyle/>
          <a:p>
            <a:pPr marL="342900" indent="-342900">
              <a:buSzPct val="100000"/>
              <a:buChar char="●"/>
            </a:pPr>
            <a:r>
              <a:rPr lang="en-US" sz="1100" dirty="0">
                <a:solidFill>
                  <a:srgbClr val="F4FBFC"/>
                </a:solidFill>
                <a:latin typeface="Inter" pitchFamily="34" charset="0"/>
                <a:ea typeface="Inter" pitchFamily="34" charset="-122"/>
                <a:cs typeface="Inter" pitchFamily="34" charset="-120"/>
              </a:rPr>
              <a:t>"What is the biggest mistake you see people make with Claude?"</a:t>
            </a:r>
            <a:endParaRPr lang="en-US" sz="1100" dirty="0"/>
          </a:p>
          <a:p>
            <a:pPr marL="342900" indent="-342900">
              <a:buSzPct val="100000"/>
              <a:buChar char="●"/>
            </a:pPr>
            <a:r>
              <a:rPr lang="en-US" sz="1100" dirty="0">
                <a:solidFill>
                  <a:srgbClr val="F4FBFC"/>
                </a:solidFill>
                <a:latin typeface="Inter" pitchFamily="34" charset="0"/>
                <a:ea typeface="Inter" pitchFamily="34" charset="-122"/>
                <a:cs typeface="Inter" pitchFamily="34" charset="-120"/>
              </a:rPr>
              <a:t>"How do you decide what to delegate to Claude vs. do yourself?"</a:t>
            </a:r>
            <a:endParaRPr lang="en-US" sz="1100" dirty="0"/>
          </a:p>
          <a:p>
            <a:pPr marL="342900" indent="-342900">
              <a:buSzPct val="100000"/>
              <a:buChar char="●"/>
            </a:pPr>
            <a:r>
              <a:rPr lang="en-US" sz="1100" dirty="0">
                <a:solidFill>
                  <a:srgbClr val="F4FBFC"/>
                </a:solidFill>
                <a:latin typeface="Inter" pitchFamily="34" charset="0"/>
                <a:ea typeface="Inter" pitchFamily="34" charset="-122"/>
                <a:cs typeface="Inter" pitchFamily="34" charset="-120"/>
              </a:rPr>
              <a:t>"What happens when Claude gets stuck or goes in circles?"</a:t>
            </a:r>
            <a:endParaRPr lang="en-US" sz="1100" dirty="0"/>
          </a:p>
          <a:p>
            <a:pPr marL="342900" indent="-342900">
              <a:buSzPct val="100000"/>
              <a:buChar char="●"/>
            </a:pPr>
            <a:r>
              <a:rPr lang="en-US" sz="1100" dirty="0">
                <a:solidFill>
                  <a:srgbClr val="F4FBFC"/>
                </a:solidFill>
                <a:latin typeface="Inter" pitchFamily="34" charset="0"/>
                <a:ea typeface="Inter" pitchFamily="34" charset="-122"/>
                <a:cs typeface="Inter" pitchFamily="34" charset="-120"/>
              </a:rPr>
              <a:t>"How do you handle Claude modifying code you don't understand?"</a:t>
            </a:r>
            <a:endParaRPr lang="en-US" sz="1100" dirty="0"/>
          </a:p>
          <a:p>
            <a:pPr marL="342900" indent="-342900">
              <a:buSzPct val="100000"/>
              <a:buChar char="●"/>
            </a:pPr>
            <a:r>
              <a:rPr lang="en-US" sz="1100" dirty="0">
                <a:solidFill>
                  <a:srgbClr val="F4FBFC"/>
                </a:solidFill>
                <a:latin typeface="Inter" pitchFamily="34" charset="0"/>
                <a:ea typeface="Inter" pitchFamily="34" charset="-122"/>
                <a:cs typeface="Inter" pitchFamily="34" charset="-120"/>
              </a:rPr>
              <a:t>"Can you really run multiple Claude sessions at once on the same project?"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2026-04-15T17:28:45Z</dcterms:created>
  <dcterms:modified xsi:type="dcterms:W3CDTF">2026-04-15T17:28:45Z</dcterms:modified>
</cp:coreProperties>
</file>